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  <p:sldMasterId id="2147483683" r:id="rId2"/>
    <p:sldMasterId id="2147483684" r:id="rId3"/>
    <p:sldMasterId id="2147483685" r:id="rId4"/>
  </p:sldMasterIdLst>
  <p:notesMasterIdLst>
    <p:notesMasterId r:id="rId2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34"/>
    <p:sldId id="275" r:id="rId35"/>
    <p:sldId id="276" r:id="rId36"/>
    <p:sldId id="277" r:id="rId37"/>
  </p:sldIdLst>
  <p:sldSz cx="9144000" cy="5143500" type="screen16x9"/>
  <p:notesSz cx="6858000" cy="9144000"/>
  <p:embeddedFontLst>
    <p:embeddedFont>
      <p:font typeface="Calibri" pitchFamily="34" charset="0"/>
      <p:regular r:id="rId24"/>
      <p:bold r:id="rId25"/>
      <p:italic r:id="rId26"/>
      <p:boldItalic r:id="rId27"/>
    </p:embeddedFont>
    <p:embeddedFont>
      <p:font typeface="Play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-736" y="-7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font" Target="fonts/font1.fntdata"/><Relationship Id="rId25" Type="http://schemas.openxmlformats.org/officeDocument/2006/relationships/font" Target="fonts/font2.fntdata"/><Relationship Id="rId26" Type="http://schemas.openxmlformats.org/officeDocument/2006/relationships/font" Target="fonts/font3.fntdata"/><Relationship Id="rId27" Type="http://schemas.openxmlformats.org/officeDocument/2006/relationships/font" Target="fonts/font4.fntdata"/><Relationship Id="rId28" Type="http://schemas.openxmlformats.org/officeDocument/2006/relationships/font" Target="fonts/font5.fntdata"/><Relationship Id="rId29" Type="http://schemas.openxmlformats.org/officeDocument/2006/relationships/font" Target="fonts/font6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6431e3f4e_2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f6431e3f4e_2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6431e3f4e_2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g3f6431e3f4e_2_5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Purpose slide: explains why the dashboard/tool was created before presenting analysis.</a:t>
            </a:r>
            <a:endParaRPr/>
          </a:p>
        </p:txBody>
      </p:sp>
      <p:sp>
        <p:nvSpPr>
          <p:cNvPr id="180" name="Google Shape;180;g3f6431e3f4e_2_5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6431e3f4e_2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f6431e3f4e_2_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Thesis states the scope: 12 Ontario municipalities and market-zone-level decision support.</a:t>
            </a:r>
            <a:endParaRPr/>
          </a:p>
        </p:txBody>
      </p:sp>
      <p:sp>
        <p:nvSpPr>
          <p:cNvPr id="199" name="Google Shape;199;g3f6431e3f4e_2_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6431e3f4e_2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g3f6431e3f4e_2_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Overall dataset insight uses Dataset B, C, and D summary fields.</a:t>
            </a:r>
            <a:endParaRPr/>
          </a:p>
        </p:txBody>
      </p:sp>
      <p:sp>
        <p:nvSpPr>
          <p:cNvPr id="221" name="Google Shape;221;g3f6431e3f4e_2_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64322c07e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3f64322c07e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6431e3f4e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g3f6431e3f4e_2_14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Top-10 gym analysis uses Dataset C brand counts plus the manual fee/amenity workbook for monthly price, training, and 24/7 fields.</a:t>
            </a:r>
            <a:endParaRPr/>
          </a:p>
        </p:txBody>
      </p:sp>
      <p:sp>
        <p:nvSpPr>
          <p:cNvPr id="348" name="Google Shape;348;g3f6431e3f4e_2_1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6431e3f4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g3f6431e3f4e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Top-10 gym analysis uses Dataset C brand counts plus the manual fee/amenity workbook for monthly price, training, and 24/7 fields.</a:t>
            </a:r>
            <a:endParaRPr/>
          </a:p>
        </p:txBody>
      </p:sp>
      <p:sp>
        <p:nvSpPr>
          <p:cNvPr id="370" name="Google Shape;370;g3f6431e3f4e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f6431e3f4e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4" name="Google Shape;394;g3f6431e3f4e_2_1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Overall dataset insight uses Dataset B, C, and D summary fields.</a:t>
            </a:r>
            <a:endParaRPr/>
          </a:p>
        </p:txBody>
      </p:sp>
      <p:sp>
        <p:nvSpPr>
          <p:cNvPr id="395" name="Google Shape;395;g3f6431e3f4e_2_1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6431e3f4e_2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8" name="Google Shape;408;g3f6431e3f4e_2_17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Scatter plot compares Dataset D Demand_Fit_Score_Preliminary to Gyms_per_10000_People.</a:t>
            </a:r>
            <a:endParaRPr/>
          </a:p>
        </p:txBody>
      </p:sp>
      <p:sp>
        <p:nvSpPr>
          <p:cNvPr id="409" name="Google Shape;409;g3f6431e3f4e_2_17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f6431e3f4e_2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4" name="Google Shape;424;g3f6431e3f4e_2_1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Demand score formula used in presentation: 30% young adult/student-age market, 20% rental/apartment market, 20% density/catchment intensity, 15% population scale/growth context, 15% income/employment context.</a:t>
            </a:r>
            <a:endParaRPr/>
          </a:p>
        </p:txBody>
      </p:sp>
      <p:sp>
        <p:nvSpPr>
          <p:cNvPr id="425" name="Google Shape;425;g3f6431e3f4e_2_1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6431e3f4e_2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9" name="Google Shape;459;g3f6431e3f4e_2_2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 six are selected by Demand_Fit_Score_Preliminary from Dataset D.</a:t>
            </a:r>
            <a:endParaRPr/>
          </a:p>
        </p:txBody>
      </p:sp>
      <p:sp>
        <p:nvSpPr>
          <p:cNvPr id="460" name="Google Shape;460;g3f6431e3f4e_2_2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f6431e3f4e_2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4" name="Google Shape;474;g3f6431e3f4e_2_24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This slide intentionally mirrors the dashboard opportunity ranking and demand-vs-supply screening view.</a:t>
            </a:r>
            <a:endParaRPr/>
          </a:p>
        </p:txBody>
      </p:sp>
      <p:sp>
        <p:nvSpPr>
          <p:cNvPr id="475" name="Google Shape;475;g3f6431e3f4e_2_24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f64322c07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g3f64322c07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f6431e3f4e_2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2" name="Google Shape;612;g3f6431e3f4e_2_2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Selected-zone cards use the same variables shown in the dashboard selected-zone panel.</a:t>
            </a:r>
            <a:endParaRPr/>
          </a:p>
        </p:txBody>
      </p:sp>
      <p:sp>
        <p:nvSpPr>
          <p:cNvPr id="613" name="Google Shape;613;g3f6431e3f4e_2_2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6431e3f4e_2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4" name="Google Shape;644;g3f6431e3f4e_2_3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Central London.</a:t>
            </a:r>
            <a:endParaRPr/>
          </a:p>
        </p:txBody>
      </p:sp>
      <p:sp>
        <p:nvSpPr>
          <p:cNvPr id="645" name="Google Shape;645;g3f6431e3f4e_2_3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3f6431e3f4e_2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3" name="Google Shape;743;g3f6431e3f4e_2_4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Northwest Kitchener.</a:t>
            </a:r>
            <a:endParaRPr/>
          </a:p>
        </p:txBody>
      </p:sp>
      <p:sp>
        <p:nvSpPr>
          <p:cNvPr id="744" name="Google Shape;744;g3f6431e3f4e_2_4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f6431e3f4e_2_5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1" name="Google Shape;841;g3f6431e3f4e_2_5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Northwest Windsor.</a:t>
            </a:r>
            <a:endParaRPr/>
          </a:p>
        </p:txBody>
      </p:sp>
      <p:sp>
        <p:nvSpPr>
          <p:cNvPr id="842" name="Google Shape;842;g3f6431e3f4e_2_5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f6431e3f4e_2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g3f6431e3f4e_2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" name="Google Shape;78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9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9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1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8" name="Google Shape;128;p32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9" name="Google Shape;129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33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6" name="Google Shape;136;p33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7" name="Google Shape;137;p33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8" name="Google Shape;13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5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35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49" name="Google Shape;149;p35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0" name="Google Shape;15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6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6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56" name="Google Shape;156;p36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7" name="Google Shape;157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7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8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8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9" name="Google Shape;99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1" name="Google Shape;101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2" name="Google Shape;102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ontario-gym-opportunity-dashboard.vercel.app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98325" y="-29475"/>
            <a:ext cx="9542326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0"/>
          <p:cNvSpPr/>
          <p:nvPr/>
        </p:nvSpPr>
        <p:spPr>
          <a:xfrm>
            <a:off x="414338" y="528638"/>
            <a:ext cx="68580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000"/>
              <a:buFont typeface="Calibri"/>
              <a:buNone/>
            </a:pPr>
            <a:r>
              <a:rPr lang="en" sz="30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Why this research matters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0"/>
          <p:cNvSpPr/>
          <p:nvPr/>
        </p:nvSpPr>
        <p:spPr>
          <a:xfrm>
            <a:off x="442913" y="1185863"/>
            <a:ext cx="7143750" cy="58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gym expansion decision should not rely only on intuition or city-level averages. The tool converts demographic, competition, review, pricing, and amenity data into a market-zone screening system.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0"/>
          <p:cNvSpPr/>
          <p:nvPr/>
        </p:nvSpPr>
        <p:spPr>
          <a:xfrm>
            <a:off x="528650" y="2010925"/>
            <a:ext cx="8138100" cy="6678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0"/>
          <p:cNvSpPr/>
          <p:nvPr/>
        </p:nvSpPr>
        <p:spPr>
          <a:xfrm>
            <a:off x="738665" y="2134926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City-level data is too broad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0"/>
          <p:cNvSpPr/>
          <p:nvPr/>
        </p:nvSpPr>
        <p:spPr>
          <a:xfrm>
            <a:off x="3862634" y="2125388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manager needs area-level insight because a new club serves one trade area, not an entire municipality.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0"/>
          <p:cNvSpPr/>
          <p:nvPr/>
        </p:nvSpPr>
        <p:spPr>
          <a:xfrm>
            <a:off x="528650" y="2888470"/>
            <a:ext cx="8138100" cy="667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0"/>
          <p:cNvSpPr/>
          <p:nvPr/>
        </p:nvSpPr>
        <p:spPr>
          <a:xfrm>
            <a:off x="738665" y="3012471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Competitors are unevenly distributed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0"/>
          <p:cNvSpPr/>
          <p:nvPr/>
        </p:nvSpPr>
        <p:spPr>
          <a:xfrm>
            <a:off x="3862634" y="3002932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zone can have strong demand but limited budget/value gym coverage.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0"/>
          <p:cNvSpPr/>
          <p:nvPr/>
        </p:nvSpPr>
        <p:spPr>
          <a:xfrm>
            <a:off x="528650" y="3766014"/>
            <a:ext cx="8138100" cy="6678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0"/>
          <p:cNvSpPr/>
          <p:nvPr/>
        </p:nvSpPr>
        <p:spPr>
          <a:xfrm>
            <a:off x="738665" y="3890016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tool makes comparison repeatable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0"/>
          <p:cNvSpPr/>
          <p:nvPr/>
        </p:nvSpPr>
        <p:spPr>
          <a:xfrm>
            <a:off x="3862634" y="3880477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Each area is judged using the same variables, making the recommendation easier to defend.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0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0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0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1"/>
          <p:cNvSpPr/>
          <p:nvPr/>
        </p:nvSpPr>
        <p:spPr>
          <a:xfrm>
            <a:off x="414300" y="471488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Project thesis: use 12 municipalities to find the best setup area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1"/>
          <p:cNvSpPr/>
          <p:nvPr/>
        </p:nvSpPr>
        <p:spPr>
          <a:xfrm>
            <a:off x="414300" y="97155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1"/>
          <p:cNvSpPr/>
          <p:nvPr/>
        </p:nvSpPr>
        <p:spPr>
          <a:xfrm>
            <a:off x="414300" y="1071563"/>
            <a:ext cx="67866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project screens Ontario market zones to identify where a new gym has the strongest demand-and-gap signal.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1"/>
          <p:cNvSpPr/>
          <p:nvPr/>
        </p:nvSpPr>
        <p:spPr>
          <a:xfrm>
            <a:off x="514313" y="1707356"/>
            <a:ext cx="1143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Calibri"/>
              <a:buNone/>
            </a:pPr>
            <a:r>
              <a:rPr lang="en" sz="2400" b="1" i="0" u="sng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Thesis</a:t>
            </a:r>
            <a:endParaRPr sz="1900" b="0" i="0" u="sng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1"/>
          <p:cNvSpPr/>
          <p:nvPr/>
        </p:nvSpPr>
        <p:spPr>
          <a:xfrm>
            <a:off x="514313" y="2071688"/>
            <a:ext cx="4107600" cy="10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500"/>
              <a:buFont typeface="Calibri"/>
              <a:buNone/>
            </a:pPr>
            <a:r>
              <a:rPr lang="en" sz="20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By comparing demographic demand, local competition, budget-gym gaps, review evidence, and brand pricing/amenities across 12 municipalities, the tool can shortlist the most attractive market zones for the next gym location.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1"/>
          <p:cNvSpPr/>
          <p:nvPr/>
        </p:nvSpPr>
        <p:spPr>
          <a:xfrm>
            <a:off x="5179188" y="1635925"/>
            <a:ext cx="3550500" cy="816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1"/>
          <p:cNvSpPr/>
          <p:nvPr/>
        </p:nvSpPr>
        <p:spPr>
          <a:xfrm>
            <a:off x="5360844" y="1778249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1"/>
          <p:cNvSpPr/>
          <p:nvPr/>
        </p:nvSpPr>
        <p:spPr>
          <a:xfrm>
            <a:off x="6335185" y="1797226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Market-zone demographics + gym competitor data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1"/>
          <p:cNvSpPr/>
          <p:nvPr/>
        </p:nvSpPr>
        <p:spPr>
          <a:xfrm>
            <a:off x="5179188" y="2755539"/>
            <a:ext cx="3550500" cy="816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41"/>
          <p:cNvSpPr/>
          <p:nvPr/>
        </p:nvSpPr>
        <p:spPr>
          <a:xfrm>
            <a:off x="5360844" y="2897864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1"/>
          <p:cNvSpPr/>
          <p:nvPr/>
        </p:nvSpPr>
        <p:spPr>
          <a:xfrm>
            <a:off x="6335185" y="2916840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Score demand, supply, competition, and positioning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1"/>
          <p:cNvSpPr/>
          <p:nvPr/>
        </p:nvSpPr>
        <p:spPr>
          <a:xfrm>
            <a:off x="5179188" y="3875155"/>
            <a:ext cx="3550500" cy="8160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1"/>
          <p:cNvSpPr/>
          <p:nvPr/>
        </p:nvSpPr>
        <p:spPr>
          <a:xfrm>
            <a:off x="5360844" y="4017478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1"/>
          <p:cNvSpPr/>
          <p:nvPr/>
        </p:nvSpPr>
        <p:spPr>
          <a:xfrm>
            <a:off x="6335185" y="4036456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 candidate zones for property-level site search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1"/>
          <p:cNvSpPr/>
          <p:nvPr/>
        </p:nvSpPr>
        <p:spPr>
          <a:xfrm>
            <a:off x="414301" y="4986338"/>
            <a:ext cx="42147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1"/>
          <p:cNvSpPr/>
          <p:nvPr/>
        </p:nvSpPr>
        <p:spPr>
          <a:xfrm>
            <a:off x="8429588" y="4986338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1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2"/>
          <p:cNvSpPr/>
          <p:nvPr/>
        </p:nvSpPr>
        <p:spPr>
          <a:xfrm>
            <a:off x="414300" y="462476"/>
            <a:ext cx="75723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full dataset gives a wide but actionable screening base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2"/>
          <p:cNvSpPr/>
          <p:nvPr/>
        </p:nvSpPr>
        <p:spPr>
          <a:xfrm>
            <a:off x="414300" y="995105"/>
            <a:ext cx="8315400" cy="78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2"/>
          <p:cNvSpPr/>
          <p:nvPr/>
        </p:nvSpPr>
        <p:spPr>
          <a:xfrm>
            <a:off x="414300" y="1101631"/>
            <a:ext cx="6786600" cy="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5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dataset is large enough for comparison, but still narrow enough to support area-level interpretation.</a:t>
            </a:r>
            <a:endParaRPr sz="1600" b="1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226" name="Google Shape;226;p42"/>
          <p:cNvSpPr/>
          <p:nvPr/>
        </p:nvSpPr>
        <p:spPr>
          <a:xfrm>
            <a:off x="500037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2"/>
          <p:cNvSpPr/>
          <p:nvPr/>
        </p:nvSpPr>
        <p:spPr>
          <a:xfrm>
            <a:off x="625806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Municipalities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2"/>
          <p:cNvSpPr/>
          <p:nvPr/>
        </p:nvSpPr>
        <p:spPr>
          <a:xfrm>
            <a:off x="625806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2"/>
          <p:cNvSpPr/>
          <p:nvPr/>
        </p:nvSpPr>
        <p:spPr>
          <a:xfrm>
            <a:off x="2543779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2"/>
          <p:cNvSpPr/>
          <p:nvPr/>
        </p:nvSpPr>
        <p:spPr>
          <a:xfrm>
            <a:off x="2669547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Market zones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2"/>
          <p:cNvSpPr/>
          <p:nvPr/>
        </p:nvSpPr>
        <p:spPr>
          <a:xfrm>
            <a:off x="2669547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58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2"/>
          <p:cNvSpPr/>
          <p:nvPr/>
        </p:nvSpPr>
        <p:spPr>
          <a:xfrm>
            <a:off x="4587520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2"/>
          <p:cNvSpPr/>
          <p:nvPr/>
        </p:nvSpPr>
        <p:spPr>
          <a:xfrm>
            <a:off x="4713289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records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2"/>
          <p:cNvSpPr/>
          <p:nvPr/>
        </p:nvSpPr>
        <p:spPr>
          <a:xfrm>
            <a:off x="4713289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190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2"/>
          <p:cNvSpPr/>
          <p:nvPr/>
        </p:nvSpPr>
        <p:spPr>
          <a:xfrm>
            <a:off x="6631262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2"/>
          <p:cNvSpPr/>
          <p:nvPr/>
        </p:nvSpPr>
        <p:spPr>
          <a:xfrm>
            <a:off x="6757030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Population covered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/>
          <p:nvPr/>
        </p:nvSpPr>
        <p:spPr>
          <a:xfrm>
            <a:off x="6757030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2.6M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2"/>
          <p:cNvSpPr/>
          <p:nvPr/>
        </p:nvSpPr>
        <p:spPr>
          <a:xfrm>
            <a:off x="500037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2"/>
          <p:cNvSpPr/>
          <p:nvPr/>
        </p:nvSpPr>
        <p:spPr>
          <a:xfrm>
            <a:off x="625806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Potential gap zones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2"/>
          <p:cNvSpPr/>
          <p:nvPr/>
        </p:nvSpPr>
        <p:spPr>
          <a:xfrm>
            <a:off x="625806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2"/>
          <p:cNvSpPr/>
          <p:nvPr/>
        </p:nvSpPr>
        <p:spPr>
          <a:xfrm>
            <a:off x="2543779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2"/>
          <p:cNvSpPr/>
          <p:nvPr/>
        </p:nvSpPr>
        <p:spPr>
          <a:xfrm>
            <a:off x="2669547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Rated gyms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2"/>
          <p:cNvSpPr/>
          <p:nvPr/>
        </p:nvSpPr>
        <p:spPr>
          <a:xfrm>
            <a:off x="2669547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158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42"/>
          <p:cNvSpPr/>
          <p:nvPr/>
        </p:nvSpPr>
        <p:spPr>
          <a:xfrm>
            <a:off x="4587520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2"/>
          <p:cNvSpPr/>
          <p:nvPr/>
        </p:nvSpPr>
        <p:spPr>
          <a:xfrm>
            <a:off x="4713289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demand score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2"/>
          <p:cNvSpPr/>
          <p:nvPr/>
        </p:nvSpPr>
        <p:spPr>
          <a:xfrm>
            <a:off x="4713289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51.4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42"/>
          <p:cNvSpPr/>
          <p:nvPr/>
        </p:nvSpPr>
        <p:spPr>
          <a:xfrm>
            <a:off x="6631262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2"/>
          <p:cNvSpPr/>
          <p:nvPr/>
        </p:nvSpPr>
        <p:spPr>
          <a:xfrm>
            <a:off x="6757030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opportunity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2"/>
          <p:cNvSpPr/>
          <p:nvPr/>
        </p:nvSpPr>
        <p:spPr>
          <a:xfrm>
            <a:off x="6757030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39.5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2"/>
          <p:cNvSpPr/>
          <p:nvPr/>
        </p:nvSpPr>
        <p:spPr>
          <a:xfrm>
            <a:off x="557175" y="4099575"/>
            <a:ext cx="63579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Highest preliminary opportunity signal: Central London, London (74.7).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2"/>
          <p:cNvSpPr/>
          <p:nvPr/>
        </p:nvSpPr>
        <p:spPr>
          <a:xfrm>
            <a:off x="557175" y="4480025"/>
            <a:ext cx="6929400" cy="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Interpretation: the tool is designed for screening. Final decisions still require property-level verification of rent, traffic, visibility, parking, and exact trade area.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2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4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43"/>
          <p:cNvSpPr txBox="1"/>
          <p:nvPr/>
        </p:nvSpPr>
        <p:spPr>
          <a:xfrm>
            <a:off x="347472" y="128016"/>
            <a:ext cx="24688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DEMAND SCORE CALCULATION</a:t>
            </a:r>
            <a:endParaRPr/>
          </a:p>
        </p:txBody>
      </p:sp>
      <p:sp>
        <p:nvSpPr>
          <p:cNvPr id="262" name="Google Shape;262;p43"/>
          <p:cNvSpPr txBox="1"/>
          <p:nvPr/>
        </p:nvSpPr>
        <p:spPr>
          <a:xfrm>
            <a:off x="347472" y="6949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Central London demand score calculation: 80.5</a:t>
            </a:r>
            <a:endParaRPr/>
          </a:p>
        </p:txBody>
      </p:sp>
      <p:sp>
        <p:nvSpPr>
          <p:cNvPr id="263" name="Google Shape;263;p43"/>
          <p:cNvSpPr txBox="1"/>
          <p:nvPr/>
        </p:nvSpPr>
        <p:spPr>
          <a:xfrm>
            <a:off x="365760" y="1005840"/>
            <a:ext cx="78638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4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 values are converted into comparable 0-100 points, then multiplied by demand weights.</a:t>
            </a:r>
            <a:endParaRPr/>
          </a:p>
        </p:txBody>
      </p:sp>
      <p:sp>
        <p:nvSpPr>
          <p:cNvPr id="264" name="Google Shape;264;p43"/>
          <p:cNvSpPr/>
          <p:nvPr/>
        </p:nvSpPr>
        <p:spPr>
          <a:xfrm>
            <a:off x="347472" y="1298448"/>
            <a:ext cx="8412480" cy="512064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10150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43"/>
          <p:cNvSpPr txBox="1"/>
          <p:nvPr/>
        </p:nvSpPr>
        <p:spPr>
          <a:xfrm>
            <a:off x="530352" y="14447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Percentile formula</a:t>
            </a:r>
            <a:endParaRPr/>
          </a:p>
        </p:txBody>
      </p:sp>
      <p:sp>
        <p:nvSpPr>
          <p:cNvPr id="266" name="Google Shape;266;p43"/>
          <p:cNvSpPr txBox="1"/>
          <p:nvPr/>
        </p:nvSpPr>
        <p:spPr>
          <a:xfrm>
            <a:off x="1719072" y="1417320"/>
            <a:ext cx="32461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6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Percentile score = zone rank / 58 market zones x 100</a:t>
            </a:r>
            <a:endParaRPr/>
          </a:p>
        </p:txBody>
      </p:sp>
      <p:sp>
        <p:nvSpPr>
          <p:cNvPr id="267" name="Google Shape;267;p43"/>
          <p:cNvSpPr txBox="1"/>
          <p:nvPr/>
        </p:nvSpPr>
        <p:spPr>
          <a:xfrm>
            <a:off x="4983480" y="1417320"/>
            <a:ext cx="35478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Example: Age 18-34 rank = 57 of 58, so 57 / 58 x 100 = 98.3</a:t>
            </a:r>
            <a:endParaRPr/>
          </a:p>
        </p:txBody>
      </p:sp>
      <p:sp>
        <p:nvSpPr>
          <p:cNvPr id="268" name="Google Shape;268;p43"/>
          <p:cNvSpPr/>
          <p:nvPr/>
        </p:nvSpPr>
        <p:spPr>
          <a:xfrm>
            <a:off x="347472" y="1993392"/>
            <a:ext cx="2816352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43"/>
          <p:cNvSpPr txBox="1"/>
          <p:nvPr/>
        </p:nvSpPr>
        <p:spPr>
          <a:xfrm>
            <a:off x="475488" y="210312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1: raw values to points</a:t>
            </a:r>
            <a:endParaRPr/>
          </a:p>
        </p:txBody>
      </p:sp>
      <p:sp>
        <p:nvSpPr>
          <p:cNvPr id="270" name="Google Shape;270;p43"/>
          <p:cNvSpPr txBox="1"/>
          <p:nvPr/>
        </p:nvSpPr>
        <p:spPr>
          <a:xfrm>
            <a:off x="475488" y="2423160"/>
            <a:ext cx="9601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endParaRPr/>
          </a:p>
        </p:txBody>
      </p:sp>
      <p:sp>
        <p:nvSpPr>
          <p:cNvPr id="271" name="Google Shape;271;p43"/>
          <p:cNvSpPr txBox="1"/>
          <p:nvPr/>
        </p:nvSpPr>
        <p:spPr>
          <a:xfrm>
            <a:off x="1435608" y="2423160"/>
            <a:ext cx="5029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</a:t>
            </a:r>
            <a:endParaRPr/>
          </a:p>
        </p:txBody>
      </p:sp>
      <p:sp>
        <p:nvSpPr>
          <p:cNvPr id="272" name="Google Shape;272;p43"/>
          <p:cNvSpPr txBox="1"/>
          <p:nvPr/>
        </p:nvSpPr>
        <p:spPr>
          <a:xfrm>
            <a:off x="1938528" y="24231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Rank</a:t>
            </a:r>
            <a:endParaRPr/>
          </a:p>
        </p:txBody>
      </p:sp>
      <p:sp>
        <p:nvSpPr>
          <p:cNvPr id="273" name="Google Shape;273;p43"/>
          <p:cNvSpPr txBox="1"/>
          <p:nvPr/>
        </p:nvSpPr>
        <p:spPr>
          <a:xfrm>
            <a:off x="2377440" y="2423160"/>
            <a:ext cx="41148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274" name="Google Shape;274;p43"/>
          <p:cNvSpPr txBox="1"/>
          <p:nvPr/>
        </p:nvSpPr>
        <p:spPr>
          <a:xfrm>
            <a:off x="475488" y="2624328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275" name="Google Shape;275;p43"/>
          <p:cNvSpPr txBox="1"/>
          <p:nvPr/>
        </p:nvSpPr>
        <p:spPr>
          <a:xfrm>
            <a:off x="1435608" y="2624328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276" name="Google Shape;276;p43"/>
          <p:cNvSpPr txBox="1"/>
          <p:nvPr/>
        </p:nvSpPr>
        <p:spPr>
          <a:xfrm>
            <a:off x="1938528" y="262432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57/58</a:t>
            </a:r>
            <a:endParaRPr/>
          </a:p>
        </p:txBody>
      </p:sp>
      <p:sp>
        <p:nvSpPr>
          <p:cNvPr id="277" name="Google Shape;277;p43"/>
          <p:cNvSpPr txBox="1"/>
          <p:nvPr/>
        </p:nvSpPr>
        <p:spPr>
          <a:xfrm>
            <a:off x="2377440" y="2624328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98.3</a:t>
            </a:r>
            <a:endParaRPr/>
          </a:p>
        </p:txBody>
      </p:sp>
      <p:sp>
        <p:nvSpPr>
          <p:cNvPr id="278" name="Google Shape;278;p43"/>
          <p:cNvSpPr txBox="1"/>
          <p:nvPr/>
        </p:nvSpPr>
        <p:spPr>
          <a:xfrm>
            <a:off x="475488" y="2834640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Student proxy</a:t>
            </a:r>
            <a:endParaRPr/>
          </a:p>
        </p:txBody>
      </p:sp>
      <p:sp>
        <p:nvSpPr>
          <p:cNvPr id="279" name="Google Shape;279;p43"/>
          <p:cNvSpPr txBox="1"/>
          <p:nvPr/>
        </p:nvSpPr>
        <p:spPr>
          <a:xfrm>
            <a:off x="1435608" y="2834640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8.8%</a:t>
            </a:r>
            <a:endParaRPr/>
          </a:p>
        </p:txBody>
      </p:sp>
      <p:sp>
        <p:nvSpPr>
          <p:cNvPr id="280" name="Google Shape;280;p43"/>
          <p:cNvSpPr txBox="1"/>
          <p:nvPr/>
        </p:nvSpPr>
        <p:spPr>
          <a:xfrm>
            <a:off x="1938528" y="2834640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52/58</a:t>
            </a:r>
            <a:endParaRPr/>
          </a:p>
        </p:txBody>
      </p:sp>
      <p:sp>
        <p:nvSpPr>
          <p:cNvPr id="281" name="Google Shape;281;p43"/>
          <p:cNvSpPr txBox="1"/>
          <p:nvPr/>
        </p:nvSpPr>
        <p:spPr>
          <a:xfrm>
            <a:off x="2377440" y="2834640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89.7</a:t>
            </a:r>
            <a:endParaRPr/>
          </a:p>
        </p:txBody>
      </p:sp>
      <p:sp>
        <p:nvSpPr>
          <p:cNvPr id="282" name="Google Shape;282;p43"/>
          <p:cNvSpPr txBox="1"/>
          <p:nvPr/>
        </p:nvSpPr>
        <p:spPr>
          <a:xfrm>
            <a:off x="475488" y="3044952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Renter share</a:t>
            </a:r>
            <a:endParaRPr/>
          </a:p>
        </p:txBody>
      </p:sp>
      <p:sp>
        <p:nvSpPr>
          <p:cNvPr id="283" name="Google Shape;283;p43"/>
          <p:cNvSpPr txBox="1"/>
          <p:nvPr/>
        </p:nvSpPr>
        <p:spPr>
          <a:xfrm>
            <a:off x="1435608" y="3044952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284" name="Google Shape;284;p43"/>
          <p:cNvSpPr txBox="1"/>
          <p:nvPr/>
        </p:nvSpPr>
        <p:spPr>
          <a:xfrm>
            <a:off x="1938528" y="30449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55/58</a:t>
            </a:r>
            <a:endParaRPr/>
          </a:p>
        </p:txBody>
      </p:sp>
      <p:sp>
        <p:nvSpPr>
          <p:cNvPr id="285" name="Google Shape;285;p43"/>
          <p:cNvSpPr txBox="1"/>
          <p:nvPr/>
        </p:nvSpPr>
        <p:spPr>
          <a:xfrm>
            <a:off x="2377440" y="3044952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94.8</a:t>
            </a:r>
            <a:endParaRPr/>
          </a:p>
        </p:txBody>
      </p:sp>
      <p:sp>
        <p:nvSpPr>
          <p:cNvPr id="286" name="Google Shape;286;p43"/>
          <p:cNvSpPr txBox="1"/>
          <p:nvPr/>
        </p:nvSpPr>
        <p:spPr>
          <a:xfrm>
            <a:off x="475488" y="3255264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Apartment share</a:t>
            </a:r>
            <a:endParaRPr/>
          </a:p>
        </p:txBody>
      </p:sp>
      <p:sp>
        <p:nvSpPr>
          <p:cNvPr id="287" name="Google Shape;287;p43"/>
          <p:cNvSpPr txBox="1"/>
          <p:nvPr/>
        </p:nvSpPr>
        <p:spPr>
          <a:xfrm>
            <a:off x="1435608" y="3255264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59.7%</a:t>
            </a:r>
            <a:endParaRPr/>
          </a:p>
        </p:txBody>
      </p:sp>
      <p:sp>
        <p:nvSpPr>
          <p:cNvPr id="288" name="Google Shape;288;p43"/>
          <p:cNvSpPr txBox="1"/>
          <p:nvPr/>
        </p:nvSpPr>
        <p:spPr>
          <a:xfrm>
            <a:off x="1938528" y="3255264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56/58</a:t>
            </a:r>
            <a:endParaRPr/>
          </a:p>
        </p:txBody>
      </p:sp>
      <p:sp>
        <p:nvSpPr>
          <p:cNvPr id="289" name="Google Shape;289;p43"/>
          <p:cNvSpPr txBox="1"/>
          <p:nvPr/>
        </p:nvSpPr>
        <p:spPr>
          <a:xfrm>
            <a:off x="2377440" y="3255264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96.6</a:t>
            </a:r>
            <a:endParaRPr/>
          </a:p>
        </p:txBody>
      </p:sp>
      <p:sp>
        <p:nvSpPr>
          <p:cNvPr id="290" name="Google Shape;290;p43"/>
          <p:cNvSpPr/>
          <p:nvPr/>
        </p:nvSpPr>
        <p:spPr>
          <a:xfrm>
            <a:off x="3364992" y="1993392"/>
            <a:ext cx="2834640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43"/>
          <p:cNvSpPr txBox="1"/>
          <p:nvPr/>
        </p:nvSpPr>
        <p:spPr>
          <a:xfrm>
            <a:off x="3493008" y="21031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2: apply demand weights</a:t>
            </a:r>
            <a:endParaRPr/>
          </a:p>
        </p:txBody>
      </p:sp>
      <p:sp>
        <p:nvSpPr>
          <p:cNvPr id="292" name="Google Shape;292;p43"/>
          <p:cNvSpPr txBox="1"/>
          <p:nvPr/>
        </p:nvSpPr>
        <p:spPr>
          <a:xfrm>
            <a:off x="3493008" y="240487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Category</a:t>
            </a:r>
            <a:endParaRPr/>
          </a:p>
        </p:txBody>
      </p:sp>
      <p:sp>
        <p:nvSpPr>
          <p:cNvPr id="293" name="Google Shape;293;p43"/>
          <p:cNvSpPr txBox="1"/>
          <p:nvPr/>
        </p:nvSpPr>
        <p:spPr>
          <a:xfrm>
            <a:off x="4636008" y="240487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Wt.</a:t>
            </a:r>
            <a:endParaRPr/>
          </a:p>
        </p:txBody>
      </p:sp>
      <p:sp>
        <p:nvSpPr>
          <p:cNvPr id="294" name="Google Shape;294;p43"/>
          <p:cNvSpPr txBox="1"/>
          <p:nvPr/>
        </p:nvSpPr>
        <p:spPr>
          <a:xfrm>
            <a:off x="4965192" y="240487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295" name="Google Shape;295;p43"/>
          <p:cNvSpPr txBox="1"/>
          <p:nvPr/>
        </p:nvSpPr>
        <p:spPr>
          <a:xfrm>
            <a:off x="5422392" y="240487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Pts.</a:t>
            </a:r>
            <a:endParaRPr/>
          </a:p>
        </p:txBody>
      </p:sp>
      <p:sp>
        <p:nvSpPr>
          <p:cNvPr id="296" name="Google Shape;296;p43"/>
          <p:cNvSpPr txBox="1"/>
          <p:nvPr/>
        </p:nvSpPr>
        <p:spPr>
          <a:xfrm>
            <a:off x="3493008" y="258775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297" name="Google Shape;297;p43"/>
          <p:cNvSpPr txBox="1"/>
          <p:nvPr/>
        </p:nvSpPr>
        <p:spPr>
          <a:xfrm>
            <a:off x="4636008" y="258775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</p:txBody>
      </p:sp>
      <p:sp>
        <p:nvSpPr>
          <p:cNvPr id="298" name="Google Shape;298;p43"/>
          <p:cNvSpPr txBox="1"/>
          <p:nvPr/>
        </p:nvSpPr>
        <p:spPr>
          <a:xfrm>
            <a:off x="4965192" y="258775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94.0</a:t>
            </a:r>
            <a:endParaRPr/>
          </a:p>
        </p:txBody>
      </p:sp>
      <p:sp>
        <p:nvSpPr>
          <p:cNvPr id="299" name="Google Shape;299;p43"/>
          <p:cNvSpPr txBox="1"/>
          <p:nvPr/>
        </p:nvSpPr>
        <p:spPr>
          <a:xfrm>
            <a:off x="5422392" y="258775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300" name="Google Shape;300;p43"/>
          <p:cNvSpPr txBox="1"/>
          <p:nvPr/>
        </p:nvSpPr>
        <p:spPr>
          <a:xfrm>
            <a:off x="3493008" y="2761488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301" name="Google Shape;301;p43"/>
          <p:cNvSpPr txBox="1"/>
          <p:nvPr/>
        </p:nvSpPr>
        <p:spPr>
          <a:xfrm>
            <a:off x="4636008" y="2761488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302" name="Google Shape;302;p43"/>
          <p:cNvSpPr txBox="1"/>
          <p:nvPr/>
        </p:nvSpPr>
        <p:spPr>
          <a:xfrm>
            <a:off x="4965192" y="2761488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95.7</a:t>
            </a:r>
            <a:endParaRPr/>
          </a:p>
        </p:txBody>
      </p:sp>
      <p:sp>
        <p:nvSpPr>
          <p:cNvPr id="303" name="Google Shape;303;p43"/>
          <p:cNvSpPr txBox="1"/>
          <p:nvPr/>
        </p:nvSpPr>
        <p:spPr>
          <a:xfrm>
            <a:off x="5422392" y="2761488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304" name="Google Shape;304;p43"/>
          <p:cNvSpPr txBox="1"/>
          <p:nvPr/>
        </p:nvSpPr>
        <p:spPr>
          <a:xfrm>
            <a:off x="3493008" y="2935224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305" name="Google Shape;305;p43"/>
          <p:cNvSpPr txBox="1"/>
          <p:nvPr/>
        </p:nvSpPr>
        <p:spPr>
          <a:xfrm>
            <a:off x="4636008" y="2935224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306" name="Google Shape;306;p43"/>
          <p:cNvSpPr txBox="1"/>
          <p:nvPr/>
        </p:nvSpPr>
        <p:spPr>
          <a:xfrm>
            <a:off x="4965192" y="2935224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77.1</a:t>
            </a:r>
            <a:endParaRPr/>
          </a:p>
        </p:txBody>
      </p:sp>
      <p:sp>
        <p:nvSpPr>
          <p:cNvPr id="307" name="Google Shape;307;p43"/>
          <p:cNvSpPr txBox="1"/>
          <p:nvPr/>
        </p:nvSpPr>
        <p:spPr>
          <a:xfrm>
            <a:off x="5422392" y="2935224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308" name="Google Shape;308;p43"/>
          <p:cNvSpPr txBox="1"/>
          <p:nvPr/>
        </p:nvSpPr>
        <p:spPr>
          <a:xfrm>
            <a:off x="3493008" y="3108960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309" name="Google Shape;309;p43"/>
          <p:cNvSpPr txBox="1"/>
          <p:nvPr/>
        </p:nvSpPr>
        <p:spPr>
          <a:xfrm>
            <a:off x="4636008" y="3108960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310" name="Google Shape;310;p43"/>
          <p:cNvSpPr txBox="1"/>
          <p:nvPr/>
        </p:nvSpPr>
        <p:spPr>
          <a:xfrm>
            <a:off x="4965192" y="3108960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81.9</a:t>
            </a:r>
            <a:endParaRPr/>
          </a:p>
        </p:txBody>
      </p:sp>
      <p:sp>
        <p:nvSpPr>
          <p:cNvPr id="311" name="Google Shape;311;p43"/>
          <p:cNvSpPr txBox="1"/>
          <p:nvPr/>
        </p:nvSpPr>
        <p:spPr>
          <a:xfrm>
            <a:off x="5422392" y="3108960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312" name="Google Shape;312;p43"/>
          <p:cNvSpPr txBox="1"/>
          <p:nvPr/>
        </p:nvSpPr>
        <p:spPr>
          <a:xfrm>
            <a:off x="3493008" y="3282696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313" name="Google Shape;313;p43"/>
          <p:cNvSpPr txBox="1"/>
          <p:nvPr/>
        </p:nvSpPr>
        <p:spPr>
          <a:xfrm>
            <a:off x="4636008" y="3282696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314" name="Google Shape;314;p43"/>
          <p:cNvSpPr txBox="1"/>
          <p:nvPr/>
        </p:nvSpPr>
        <p:spPr>
          <a:xfrm>
            <a:off x="4965192" y="3282696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36.4</a:t>
            </a:r>
            <a:endParaRPr/>
          </a:p>
        </p:txBody>
      </p:sp>
      <p:sp>
        <p:nvSpPr>
          <p:cNvPr id="315" name="Google Shape;315;p43"/>
          <p:cNvSpPr txBox="1"/>
          <p:nvPr/>
        </p:nvSpPr>
        <p:spPr>
          <a:xfrm>
            <a:off x="5422392" y="3282696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316" name="Google Shape;316;p43"/>
          <p:cNvSpPr/>
          <p:nvPr/>
        </p:nvSpPr>
        <p:spPr>
          <a:xfrm>
            <a:off x="6419088" y="1993392"/>
            <a:ext cx="2340864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3"/>
          <p:cNvSpPr txBox="1"/>
          <p:nvPr/>
        </p:nvSpPr>
        <p:spPr>
          <a:xfrm>
            <a:off x="6547104" y="210312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Point contribution</a:t>
            </a:r>
            <a:endParaRPr/>
          </a:p>
        </p:txBody>
      </p:sp>
      <p:sp>
        <p:nvSpPr>
          <p:cNvPr id="318" name="Google Shape;318;p43"/>
          <p:cNvSpPr txBox="1"/>
          <p:nvPr/>
        </p:nvSpPr>
        <p:spPr>
          <a:xfrm>
            <a:off x="6547104" y="242316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319" name="Google Shape;319;p43"/>
          <p:cNvSpPr/>
          <p:nvPr/>
        </p:nvSpPr>
        <p:spPr>
          <a:xfrm>
            <a:off x="7680960" y="244144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43"/>
          <p:cNvSpPr/>
          <p:nvPr/>
        </p:nvSpPr>
        <p:spPr>
          <a:xfrm>
            <a:off x="7680960" y="2441448"/>
            <a:ext cx="438363" cy="91440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3"/>
          <p:cNvSpPr txBox="1"/>
          <p:nvPr/>
        </p:nvSpPr>
        <p:spPr>
          <a:xfrm>
            <a:off x="8193024" y="241858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322" name="Google Shape;322;p43"/>
          <p:cNvSpPr txBox="1"/>
          <p:nvPr/>
        </p:nvSpPr>
        <p:spPr>
          <a:xfrm>
            <a:off x="6547104" y="260604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323" name="Google Shape;323;p43"/>
          <p:cNvSpPr/>
          <p:nvPr/>
        </p:nvSpPr>
        <p:spPr>
          <a:xfrm>
            <a:off x="7680960" y="262432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43"/>
          <p:cNvSpPr/>
          <p:nvPr/>
        </p:nvSpPr>
        <p:spPr>
          <a:xfrm>
            <a:off x="7680960" y="2624328"/>
            <a:ext cx="296905" cy="91440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3"/>
          <p:cNvSpPr txBox="1"/>
          <p:nvPr/>
        </p:nvSpPr>
        <p:spPr>
          <a:xfrm>
            <a:off x="8193024" y="260146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326" name="Google Shape;326;p43"/>
          <p:cNvSpPr txBox="1"/>
          <p:nvPr/>
        </p:nvSpPr>
        <p:spPr>
          <a:xfrm>
            <a:off x="6547104" y="278892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327" name="Google Shape;327;p43"/>
          <p:cNvSpPr/>
          <p:nvPr/>
        </p:nvSpPr>
        <p:spPr>
          <a:xfrm>
            <a:off x="7680960" y="280720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43"/>
          <p:cNvSpPr/>
          <p:nvPr/>
        </p:nvSpPr>
        <p:spPr>
          <a:xfrm>
            <a:off x="7680960" y="2807208"/>
            <a:ext cx="239389" cy="91440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3"/>
          <p:cNvSpPr txBox="1"/>
          <p:nvPr/>
        </p:nvSpPr>
        <p:spPr>
          <a:xfrm>
            <a:off x="8193024" y="278434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330" name="Google Shape;330;p43"/>
          <p:cNvSpPr txBox="1"/>
          <p:nvPr/>
        </p:nvSpPr>
        <p:spPr>
          <a:xfrm>
            <a:off x="6547104" y="297180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331" name="Google Shape;331;p43"/>
          <p:cNvSpPr/>
          <p:nvPr/>
        </p:nvSpPr>
        <p:spPr>
          <a:xfrm>
            <a:off x="7680960" y="299008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3"/>
          <p:cNvSpPr/>
          <p:nvPr/>
        </p:nvSpPr>
        <p:spPr>
          <a:xfrm>
            <a:off x="7680960" y="2990088"/>
            <a:ext cx="191201" cy="91440"/>
          </a:xfrm>
          <a:prstGeom prst="roundRect">
            <a:avLst>
              <a:gd name="adj" fmla="val 16667"/>
            </a:avLst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3"/>
          <p:cNvSpPr txBox="1"/>
          <p:nvPr/>
        </p:nvSpPr>
        <p:spPr>
          <a:xfrm>
            <a:off x="8193024" y="296722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334" name="Google Shape;334;p43"/>
          <p:cNvSpPr txBox="1"/>
          <p:nvPr/>
        </p:nvSpPr>
        <p:spPr>
          <a:xfrm>
            <a:off x="6547104" y="315468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335" name="Google Shape;335;p43"/>
          <p:cNvSpPr/>
          <p:nvPr/>
        </p:nvSpPr>
        <p:spPr>
          <a:xfrm>
            <a:off x="7680960" y="317296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3"/>
          <p:cNvSpPr/>
          <p:nvPr/>
        </p:nvSpPr>
        <p:spPr>
          <a:xfrm>
            <a:off x="7680960" y="3172968"/>
            <a:ext cx="85496" cy="91440"/>
          </a:xfrm>
          <a:prstGeom prst="roundRect">
            <a:avLst>
              <a:gd name="adj" fmla="val 16667"/>
            </a:avLst>
          </a:prstGeom>
          <a:solidFill>
            <a:srgbClr val="96A5B4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3"/>
          <p:cNvSpPr txBox="1"/>
          <p:nvPr/>
        </p:nvSpPr>
        <p:spPr>
          <a:xfrm>
            <a:off x="8193024" y="315010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338" name="Google Shape;338;p43"/>
          <p:cNvSpPr/>
          <p:nvPr/>
        </p:nvSpPr>
        <p:spPr>
          <a:xfrm>
            <a:off x="347472" y="3703320"/>
            <a:ext cx="8412480" cy="6035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43"/>
          <p:cNvSpPr txBox="1"/>
          <p:nvPr/>
        </p:nvSpPr>
        <p:spPr>
          <a:xfrm>
            <a:off x="530352" y="3858768"/>
            <a:ext cx="14173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Step 3: add weighted points</a:t>
            </a:r>
            <a:endParaRPr/>
          </a:p>
        </p:txBody>
      </p:sp>
      <p:sp>
        <p:nvSpPr>
          <p:cNvPr id="340" name="Google Shape;340;p43"/>
          <p:cNvSpPr txBox="1"/>
          <p:nvPr/>
        </p:nvSpPr>
        <p:spPr>
          <a:xfrm>
            <a:off x="1901952" y="3785615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 + 19.1 + 15.4 + 12.3 + 5.5 = 80.5</a:t>
            </a:r>
            <a:endParaRPr/>
          </a:p>
        </p:txBody>
      </p:sp>
      <p:sp>
        <p:nvSpPr>
          <p:cNvPr id="341" name="Google Shape;341;p43"/>
          <p:cNvSpPr txBox="1"/>
          <p:nvPr/>
        </p:nvSpPr>
        <p:spPr>
          <a:xfrm>
            <a:off x="6016752" y="3794760"/>
            <a:ext cx="250545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Meaning: strong young-adult, renter, apartment, density, and population signals offset a lower economic-context score.</a:t>
            </a:r>
            <a:endParaRPr/>
          </a:p>
        </p:txBody>
      </p:sp>
      <p:sp>
        <p:nvSpPr>
          <p:cNvPr id="342" name="Google Shape;342;p43"/>
          <p:cNvSpPr txBox="1"/>
          <p:nvPr/>
        </p:nvSpPr>
        <p:spPr>
          <a:xfrm>
            <a:off x="365760" y="4489704"/>
            <a:ext cx="5074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Note: component scores are normalized/ranked against the 58 market zones and rounded for presentation.</a:t>
            </a:r>
            <a:endParaRPr/>
          </a:p>
        </p:txBody>
      </p:sp>
      <p:sp>
        <p:nvSpPr>
          <p:cNvPr id="343" name="Google Shape;343;p43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344" name="Google Shape;344;p4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4"/>
          <p:cNvSpPr/>
          <p:nvPr/>
        </p:nvSpPr>
        <p:spPr>
          <a:xfrm>
            <a:off x="414325" y="507200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Top 10 gym brands define the competitive landscape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4"/>
          <p:cNvSpPr/>
          <p:nvPr/>
        </p:nvSpPr>
        <p:spPr>
          <a:xfrm>
            <a:off x="414325" y="1007263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4"/>
          <p:cNvSpPr/>
          <p:nvPr/>
        </p:nvSpPr>
        <p:spPr>
          <a:xfrm>
            <a:off x="414325" y="1107276"/>
            <a:ext cx="67866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major chains differ by footprint, price tier, and service model, so the tool compares both presence and positioning.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3" name="Google Shape;353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2901" y="1493038"/>
            <a:ext cx="4214813" cy="253603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4"/>
          <p:cNvSpPr/>
          <p:nvPr/>
        </p:nvSpPr>
        <p:spPr>
          <a:xfrm>
            <a:off x="5036332" y="1521613"/>
            <a:ext cx="3250500" cy="614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4"/>
          <p:cNvSpPr/>
          <p:nvPr/>
        </p:nvSpPr>
        <p:spPr>
          <a:xfrm>
            <a:off x="5200638" y="1578763"/>
            <a:ext cx="14289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Largest footprint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4"/>
          <p:cNvSpPr/>
          <p:nvPr/>
        </p:nvSpPr>
        <p:spPr>
          <a:xfrm>
            <a:off x="5143488" y="1807363"/>
            <a:ext cx="2750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GoodLife has the strongest location presence in the project dataset, followed by Fit4Less and Planet Fitness.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4"/>
          <p:cNvSpPr/>
          <p:nvPr/>
        </p:nvSpPr>
        <p:spPr>
          <a:xfrm>
            <a:off x="5036332" y="2307426"/>
            <a:ext cx="3250500" cy="928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4"/>
          <p:cNvSpPr/>
          <p:nvPr/>
        </p:nvSpPr>
        <p:spPr>
          <a:xfrm>
            <a:off x="5200638" y="2457444"/>
            <a:ext cx="18573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Budget-price benchmark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4"/>
          <p:cNvSpPr/>
          <p:nvPr/>
        </p:nvSpPr>
        <p:spPr>
          <a:xfrm>
            <a:off x="5200638" y="2700332"/>
            <a:ext cx="27861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Fit4Less ($15.98) and Planet Fitness ($15.00) define the low-price comparison. If these are absent in a zone, a value-gym gap may exist.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/>
          <p:nvPr/>
        </p:nvSpPr>
        <p:spPr>
          <a:xfrm>
            <a:off x="5029188" y="3293263"/>
            <a:ext cx="3250500" cy="7857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4"/>
          <p:cNvSpPr/>
          <p:nvPr/>
        </p:nvSpPr>
        <p:spPr>
          <a:xfrm>
            <a:off x="5200638" y="3293263"/>
            <a:ext cx="20001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Service model differences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/>
          <p:nvPr/>
        </p:nvSpPr>
        <p:spPr>
          <a:xfrm>
            <a:off x="5200638" y="3586157"/>
            <a:ext cx="28005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Premium/boutique brands compete on training, classes, and amenities. Blank fee fields should be treated as manual follow-up, not as missing competition.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4"/>
          <p:cNvSpPr/>
          <p:nvPr/>
        </p:nvSpPr>
        <p:spPr>
          <a:xfrm>
            <a:off x="542913" y="4293388"/>
            <a:ext cx="7286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Insight: top-10 brand analysis explains whether a gap is about price, amenities, service model, or simply low competitor coverage.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4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4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4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5"/>
          <p:cNvSpPr/>
          <p:nvPr/>
        </p:nvSpPr>
        <p:spPr>
          <a:xfrm>
            <a:off x="462399" y="459324"/>
            <a:ext cx="7094700" cy="3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68"/>
              <a:buFont typeface="Calibri"/>
              <a:buNone/>
            </a:pPr>
            <a:r>
              <a:rPr lang="en" sz="1968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Top 10 gym brands define the competitive landscape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5"/>
          <p:cNvSpPr/>
          <p:nvPr/>
        </p:nvSpPr>
        <p:spPr>
          <a:xfrm>
            <a:off x="462399" y="927846"/>
            <a:ext cx="7791000" cy="6600"/>
          </a:xfrm>
          <a:prstGeom prst="rect">
            <a:avLst/>
          </a:prstGeom>
          <a:solidFill>
            <a:srgbClr val="DBE4EE"/>
          </a:solidFill>
          <a:ln w="89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4250" tIns="64250" rIns="64250" bIns="6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2"/>
              <a:buFont typeface="Arial"/>
              <a:buNone/>
            </a:pPr>
            <a:endParaRPr sz="131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5"/>
          <p:cNvSpPr/>
          <p:nvPr/>
        </p:nvSpPr>
        <p:spPr>
          <a:xfrm>
            <a:off x="462410" y="4450556"/>
            <a:ext cx="6827100" cy="3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37"/>
              <a:buFont typeface="Calibri"/>
              <a:buNone/>
            </a:pPr>
            <a:r>
              <a:rPr lang="en" sz="937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Insight: top-10 brand analysis explains whether a gap is about price, amenities, service model, or simply low competitor coverage.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5"/>
          <p:cNvSpPr/>
          <p:nvPr/>
        </p:nvSpPr>
        <p:spPr>
          <a:xfrm>
            <a:off x="462399" y="4689414"/>
            <a:ext cx="3948900" cy="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6"/>
              <a:buFont typeface="Calibri"/>
              <a:buNone/>
            </a:pPr>
            <a:r>
              <a:rPr lang="en" sz="656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5"/>
          <p:cNvSpPr/>
          <p:nvPr/>
        </p:nvSpPr>
        <p:spPr>
          <a:xfrm>
            <a:off x="8470250" y="4679513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7" name="Google Shape;37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774" y="1077380"/>
            <a:ext cx="7972119" cy="278654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8" name="Google Shape;378;p45"/>
          <p:cNvCxnSpPr/>
          <p:nvPr/>
        </p:nvCxnSpPr>
        <p:spPr>
          <a:xfrm rot="10800000" flipH="1">
            <a:off x="572523" y="4142286"/>
            <a:ext cx="2942100" cy="2520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9" name="Google Shape;379;p45"/>
          <p:cNvSpPr txBox="1"/>
          <p:nvPr/>
        </p:nvSpPr>
        <p:spPr>
          <a:xfrm>
            <a:off x="547156" y="3850453"/>
            <a:ext cx="2942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          Budget gym</a:t>
            </a:r>
            <a:endParaRPr sz="1312"/>
          </a:p>
        </p:txBody>
      </p:sp>
      <p:cxnSp>
        <p:nvCxnSpPr>
          <p:cNvPr id="380" name="Google Shape;380;p45"/>
          <p:cNvCxnSpPr/>
          <p:nvPr/>
        </p:nvCxnSpPr>
        <p:spPr>
          <a:xfrm rot="10800000" flipH="1">
            <a:off x="3781037" y="4150963"/>
            <a:ext cx="2155800" cy="1260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1" name="Google Shape;381;p45"/>
          <p:cNvSpPr txBox="1"/>
          <p:nvPr/>
        </p:nvSpPr>
        <p:spPr>
          <a:xfrm>
            <a:off x="3983859" y="3816302"/>
            <a:ext cx="1877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Premium</a:t>
            </a:r>
            <a:endParaRPr sz="1312"/>
          </a:p>
        </p:txBody>
      </p:sp>
      <p:cxnSp>
        <p:nvCxnSpPr>
          <p:cNvPr id="382" name="Google Shape;382;p45"/>
          <p:cNvCxnSpPr/>
          <p:nvPr/>
        </p:nvCxnSpPr>
        <p:spPr>
          <a:xfrm>
            <a:off x="6105090" y="4167486"/>
            <a:ext cx="2241300" cy="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3" name="Google Shape;383;p45"/>
          <p:cNvSpPr txBox="1"/>
          <p:nvPr/>
        </p:nvSpPr>
        <p:spPr>
          <a:xfrm>
            <a:off x="6079723" y="3850453"/>
            <a:ext cx="2942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  Super premium</a:t>
            </a:r>
            <a:endParaRPr sz="1312"/>
          </a:p>
        </p:txBody>
      </p:sp>
      <p:sp>
        <p:nvSpPr>
          <p:cNvPr id="384" name="Google Shape;384;p45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5" name="Google Shape;385;p45"/>
          <p:cNvPicPr preferRelativeResize="0"/>
          <p:nvPr/>
        </p:nvPicPr>
        <p:blipFill rotWithShape="1">
          <a:blip r:embed="rId4">
            <a:alphaModFix/>
          </a:blip>
          <a:srcRect b="40476"/>
          <a:stretch/>
        </p:blipFill>
        <p:spPr>
          <a:xfrm>
            <a:off x="4016250" y="2155925"/>
            <a:ext cx="683176" cy="438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45"/>
          <p:cNvPicPr preferRelativeResize="0"/>
          <p:nvPr/>
        </p:nvPicPr>
        <p:blipFill rotWithShape="1">
          <a:blip r:embed="rId5">
            <a:alphaModFix/>
          </a:blip>
          <a:srcRect l="12611" r="15119"/>
          <a:stretch/>
        </p:blipFill>
        <p:spPr>
          <a:xfrm>
            <a:off x="1771825" y="2260075"/>
            <a:ext cx="683175" cy="46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94046" y="2280875"/>
            <a:ext cx="683175" cy="42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7450" y="2276455"/>
            <a:ext cx="477771" cy="46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4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92100" y="2026713"/>
            <a:ext cx="1031975" cy="103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4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18944" y="2457675"/>
            <a:ext cx="621107" cy="38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4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384250" y="2328702"/>
            <a:ext cx="683177" cy="3575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6"/>
          <p:cNvSpPr/>
          <p:nvPr/>
        </p:nvSpPr>
        <p:spPr>
          <a:xfrm>
            <a:off x="414338" y="300038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full dataset gives a wide but actionable screening base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6"/>
          <p:cNvSpPr/>
          <p:nvPr/>
        </p:nvSpPr>
        <p:spPr>
          <a:xfrm>
            <a:off x="414338" y="80010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6"/>
          <p:cNvSpPr/>
          <p:nvPr/>
        </p:nvSpPr>
        <p:spPr>
          <a:xfrm>
            <a:off x="414338" y="4814888"/>
            <a:ext cx="42147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6"/>
          <p:cNvSpPr/>
          <p:nvPr/>
        </p:nvSpPr>
        <p:spPr>
          <a:xfrm>
            <a:off x="8429625" y="4814888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6"/>
          <p:cNvSpPr/>
          <p:nvPr/>
        </p:nvSpPr>
        <p:spPr>
          <a:xfrm rot="10800000" flipH="1">
            <a:off x="0" y="4893875"/>
            <a:ext cx="9144000" cy="192300"/>
          </a:xfrm>
          <a:prstGeom prst="rect">
            <a:avLst/>
          </a:prstGeom>
          <a:gradFill>
            <a:gsLst>
              <a:gs pos="0">
                <a:srgbClr val="2C68B2"/>
              </a:gs>
              <a:gs pos="100000">
                <a:srgbClr val="162B46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2" name="Google Shape;402;p46"/>
          <p:cNvPicPr preferRelativeResize="0"/>
          <p:nvPr/>
        </p:nvPicPr>
        <p:blipFill rotWithShape="1">
          <a:blip r:embed="rId3">
            <a:alphaModFix/>
          </a:blip>
          <a:srcRect b="47701"/>
          <a:stretch/>
        </p:blipFill>
        <p:spPr>
          <a:xfrm>
            <a:off x="162425" y="800100"/>
            <a:ext cx="8896824" cy="187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46"/>
          <p:cNvPicPr preferRelativeResize="0"/>
          <p:nvPr/>
        </p:nvPicPr>
        <p:blipFill rotWithShape="1">
          <a:blip r:embed="rId4">
            <a:alphaModFix/>
          </a:blip>
          <a:srcRect b="43423"/>
          <a:stretch/>
        </p:blipFill>
        <p:spPr>
          <a:xfrm>
            <a:off x="162425" y="2958425"/>
            <a:ext cx="8981577" cy="1584712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46"/>
          <p:cNvSpPr txBox="1"/>
          <p:nvPr/>
        </p:nvSpPr>
        <p:spPr>
          <a:xfrm>
            <a:off x="152875" y="2620025"/>
            <a:ext cx="41418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Scraped data by pincode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6"/>
          <p:cNvSpPr txBox="1"/>
          <p:nvPr/>
        </p:nvSpPr>
        <p:spPr>
          <a:xfrm>
            <a:off x="58125" y="4543125"/>
            <a:ext cx="36141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Scraped data as per Zone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7"/>
          <p:cNvSpPr/>
          <p:nvPr/>
        </p:nvSpPr>
        <p:spPr>
          <a:xfrm>
            <a:off x="572488" y="569150"/>
            <a:ext cx="8243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51"/>
              <a:buFont typeface="Calibri"/>
              <a:buNone/>
            </a:pPr>
            <a:r>
              <a:rPr lang="en" sz="1951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 demand becomes attractive only when supply is not already saturated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7"/>
          <p:cNvSpPr/>
          <p:nvPr/>
        </p:nvSpPr>
        <p:spPr>
          <a:xfrm>
            <a:off x="572475" y="1040473"/>
            <a:ext cx="8016600" cy="6600"/>
          </a:xfrm>
          <a:prstGeom prst="rect">
            <a:avLst/>
          </a:prstGeom>
          <a:solidFill>
            <a:srgbClr val="DBE4EE"/>
          </a:solidFill>
          <a:ln w="8850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3725" tIns="63725" rIns="63725" bIns="63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1"/>
              <a:buFont typeface="Arial"/>
              <a:buNone/>
            </a:pPr>
            <a:endParaRPr sz="130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/>
          <p:cNvSpPr/>
          <p:nvPr/>
        </p:nvSpPr>
        <p:spPr>
          <a:xfrm>
            <a:off x="572475" y="1133412"/>
            <a:ext cx="68184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29"/>
              <a:buFont typeface="Calibri"/>
              <a:buNone/>
            </a:pPr>
            <a:r>
              <a:rPr lang="en" sz="929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best expansion candidate combines high demand with low gyms per 10,000 people and few direct budget competitors.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7"/>
          <p:cNvSpPr/>
          <p:nvPr/>
        </p:nvSpPr>
        <p:spPr>
          <a:xfrm>
            <a:off x="6405818" y="1558271"/>
            <a:ext cx="1721700" cy="1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301"/>
              <a:buFont typeface="Calibri"/>
              <a:buNone/>
            </a:pPr>
            <a:r>
              <a:rPr lang="en" sz="1301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Preferred quadrant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7"/>
          <p:cNvSpPr/>
          <p:nvPr/>
        </p:nvSpPr>
        <p:spPr>
          <a:xfrm>
            <a:off x="6405818" y="1890193"/>
            <a:ext cx="1687200" cy="5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22"/>
              <a:buFont typeface="Calibri"/>
              <a:buNone/>
            </a:pPr>
            <a:r>
              <a:rPr lang="en" sz="1022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 demand + low supply density. Central London and Northwest Windsor are strongest on this logic.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7"/>
          <p:cNvSpPr/>
          <p:nvPr/>
        </p:nvSpPr>
        <p:spPr>
          <a:xfrm>
            <a:off x="6405818" y="2686805"/>
            <a:ext cx="1687200" cy="5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29"/>
              <a:buFont typeface="Calibri"/>
              <a:buNone/>
            </a:pPr>
            <a:r>
              <a:rPr lang="en" sz="929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Waterloo and Kingston still matter, but they require sharper site selection because current gym density is higher.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7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7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9" name="Google Shape;419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487" y="1511819"/>
            <a:ext cx="5593935" cy="3062531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47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5825" y="3374963"/>
            <a:ext cx="2248826" cy="12962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8"/>
          <p:cNvSpPr/>
          <p:nvPr/>
        </p:nvSpPr>
        <p:spPr>
          <a:xfrm>
            <a:off x="306038" y="600425"/>
            <a:ext cx="7858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Demand score turns raw census variables into one screening index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/>
          <p:cNvSpPr/>
          <p:nvPr/>
        </p:nvSpPr>
        <p:spPr>
          <a:xfrm>
            <a:off x="306038" y="1100488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8"/>
          <p:cNvSpPr/>
          <p:nvPr/>
        </p:nvSpPr>
        <p:spPr>
          <a:xfrm>
            <a:off x="306038" y="1200501"/>
            <a:ext cx="70722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demand score is a 0–100 preliminary fit score. It tells us where a gym concept should be investigated first.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8"/>
          <p:cNvSpPr/>
          <p:nvPr/>
        </p:nvSpPr>
        <p:spPr>
          <a:xfrm>
            <a:off x="477488" y="1643413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8"/>
          <p:cNvSpPr/>
          <p:nvPr/>
        </p:nvSpPr>
        <p:spPr>
          <a:xfrm>
            <a:off x="648938" y="1721994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8"/>
          <p:cNvSpPr/>
          <p:nvPr/>
        </p:nvSpPr>
        <p:spPr>
          <a:xfrm>
            <a:off x="1391888" y="1721994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Young adult / student-age market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8"/>
          <p:cNvSpPr/>
          <p:nvPr/>
        </p:nvSpPr>
        <p:spPr>
          <a:xfrm>
            <a:off x="3713606" y="1714851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 18?34 share and student-age proxy signal fitness demand.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8"/>
          <p:cNvSpPr/>
          <p:nvPr/>
        </p:nvSpPr>
        <p:spPr>
          <a:xfrm>
            <a:off x="477488" y="2200626"/>
            <a:ext cx="5429400" cy="40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8"/>
          <p:cNvSpPr/>
          <p:nvPr/>
        </p:nvSpPr>
        <p:spPr>
          <a:xfrm>
            <a:off x="648938" y="2279207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8"/>
          <p:cNvSpPr/>
          <p:nvPr/>
        </p:nvSpPr>
        <p:spPr>
          <a:xfrm>
            <a:off x="1391888" y="2279207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Rental / apartment market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8"/>
          <p:cNvSpPr/>
          <p:nvPr/>
        </p:nvSpPr>
        <p:spPr>
          <a:xfrm>
            <a:off x="3713606" y="2272063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Renters and apartments indicate flexible local service demand.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48"/>
          <p:cNvSpPr/>
          <p:nvPr/>
        </p:nvSpPr>
        <p:spPr>
          <a:xfrm>
            <a:off x="477488" y="2757838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8"/>
          <p:cNvSpPr/>
          <p:nvPr/>
        </p:nvSpPr>
        <p:spPr>
          <a:xfrm>
            <a:off x="648938" y="2836419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8"/>
          <p:cNvSpPr/>
          <p:nvPr/>
        </p:nvSpPr>
        <p:spPr>
          <a:xfrm>
            <a:off x="1391888" y="2836419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Density and catchment intensity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8"/>
          <p:cNvSpPr/>
          <p:nvPr/>
        </p:nvSpPr>
        <p:spPr>
          <a:xfrm>
            <a:off x="3713606" y="2829276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Dense zones create easier access and stronger local catchments.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8"/>
          <p:cNvSpPr/>
          <p:nvPr/>
        </p:nvSpPr>
        <p:spPr>
          <a:xfrm>
            <a:off x="477488" y="3315050"/>
            <a:ext cx="5429400" cy="40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8"/>
          <p:cNvSpPr/>
          <p:nvPr/>
        </p:nvSpPr>
        <p:spPr>
          <a:xfrm>
            <a:off x="648938" y="3393632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8"/>
          <p:cNvSpPr/>
          <p:nvPr/>
        </p:nvSpPr>
        <p:spPr>
          <a:xfrm>
            <a:off x="1391888" y="3393632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Population scale and growth context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8"/>
          <p:cNvSpPr/>
          <p:nvPr/>
        </p:nvSpPr>
        <p:spPr>
          <a:xfrm>
            <a:off x="3713606" y="3386488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Larger/growing areas support more potential members.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8"/>
          <p:cNvSpPr/>
          <p:nvPr/>
        </p:nvSpPr>
        <p:spPr>
          <a:xfrm>
            <a:off x="477488" y="3872263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8"/>
          <p:cNvSpPr/>
          <p:nvPr/>
        </p:nvSpPr>
        <p:spPr>
          <a:xfrm>
            <a:off x="648938" y="3950844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8"/>
          <p:cNvSpPr/>
          <p:nvPr/>
        </p:nvSpPr>
        <p:spPr>
          <a:xfrm>
            <a:off x="1391888" y="3950844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Income and employment context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8"/>
          <p:cNvSpPr/>
          <p:nvPr/>
        </p:nvSpPr>
        <p:spPr>
          <a:xfrm>
            <a:off x="3713606" y="3943701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Affordability and economic stability affect conversion potential.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8"/>
          <p:cNvSpPr/>
          <p:nvPr/>
        </p:nvSpPr>
        <p:spPr>
          <a:xfrm>
            <a:off x="6321075" y="1764856"/>
            <a:ext cx="1785900" cy="1828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48"/>
          <p:cNvSpPr/>
          <p:nvPr/>
        </p:nvSpPr>
        <p:spPr>
          <a:xfrm>
            <a:off x="6499669" y="1943451"/>
            <a:ext cx="12144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5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Formula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48"/>
          <p:cNvSpPr/>
          <p:nvPr/>
        </p:nvSpPr>
        <p:spPr>
          <a:xfrm>
            <a:off x="6499669" y="2200626"/>
            <a:ext cx="1357200" cy="6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Normalize each variable to 0–100, multiply by its weight, then sum the weighted values.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8"/>
          <p:cNvSpPr/>
          <p:nvPr/>
        </p:nvSpPr>
        <p:spPr>
          <a:xfrm>
            <a:off x="6499669" y="3100738"/>
            <a:ext cx="1357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result is used for screening only; it is not a final lease decision.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8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8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8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9"/>
          <p:cNvSpPr/>
          <p:nvPr/>
        </p:nvSpPr>
        <p:spPr>
          <a:xfrm>
            <a:off x="414288" y="638438"/>
            <a:ext cx="7858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Six zones show the strongest demand signal across the dataset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/>
          <p:nvPr/>
        </p:nvSpPr>
        <p:spPr>
          <a:xfrm>
            <a:off x="414288" y="113850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/>
          <p:cNvSpPr/>
          <p:nvPr/>
        </p:nvSpPr>
        <p:spPr>
          <a:xfrm>
            <a:off x="414288" y="1238513"/>
            <a:ext cx="70722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This is the demand-first shortlist before checking whether the area is already crowded with competitors.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8587" y="1624275"/>
            <a:ext cx="5786438" cy="2700338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49"/>
          <p:cNvSpPr/>
          <p:nvPr/>
        </p:nvSpPr>
        <p:spPr>
          <a:xfrm>
            <a:off x="6643638" y="1867163"/>
            <a:ext cx="1785900" cy="175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9"/>
          <p:cNvSpPr/>
          <p:nvPr/>
        </p:nvSpPr>
        <p:spPr>
          <a:xfrm>
            <a:off x="6815088" y="2052900"/>
            <a:ext cx="1357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Key point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9"/>
          <p:cNvSpPr/>
          <p:nvPr/>
        </p:nvSpPr>
        <p:spPr>
          <a:xfrm>
            <a:off x="6815088" y="2424375"/>
            <a:ext cx="13572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East Waterloo has the highest demand score, but demand is only the first filter. The next slides test competition pressure and budget-gym gaps.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9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9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9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0"/>
          <p:cNvSpPr/>
          <p:nvPr/>
        </p:nvSpPr>
        <p:spPr>
          <a:xfrm>
            <a:off x="236125" y="332063"/>
            <a:ext cx="35718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INTERPRETATION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236125" y="546375"/>
            <a:ext cx="70008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" sz="17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The analysis now narrows from </a:t>
            </a:r>
            <a:r>
              <a:rPr lang="en" sz="1700" b="1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all </a:t>
            </a:r>
            <a:r>
              <a:rPr lang="en" sz="17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to top three setup zones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0"/>
          <p:cNvSpPr/>
          <p:nvPr/>
        </p:nvSpPr>
        <p:spPr>
          <a:xfrm>
            <a:off x="236125" y="903563"/>
            <a:ext cx="7286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The next section uses the dashboard’s opportunity ranking and selected-zone views as the evidence base.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50"/>
          <p:cNvSpPr/>
          <p:nvPr/>
        </p:nvSpPr>
        <p:spPr>
          <a:xfrm>
            <a:off x="7579900" y="374925"/>
            <a:ext cx="800100" cy="2715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952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50"/>
          <p:cNvSpPr/>
          <p:nvPr/>
        </p:nvSpPr>
        <p:spPr>
          <a:xfrm>
            <a:off x="7637050" y="432075"/>
            <a:ext cx="685800" cy="1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Dataset 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0"/>
          <p:cNvSpPr/>
          <p:nvPr/>
        </p:nvSpPr>
        <p:spPr>
          <a:xfrm>
            <a:off x="350425" y="1382194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0"/>
          <p:cNvSpPr/>
          <p:nvPr/>
        </p:nvSpPr>
        <p:spPr>
          <a:xfrm>
            <a:off x="2050638" y="1403625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0"/>
          <p:cNvSpPr/>
          <p:nvPr/>
        </p:nvSpPr>
        <p:spPr>
          <a:xfrm>
            <a:off x="2050638" y="1403625"/>
            <a:ext cx="20010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0"/>
          <p:cNvSpPr/>
          <p:nvPr/>
        </p:nvSpPr>
        <p:spPr>
          <a:xfrm>
            <a:off x="4350925" y="1382194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74.7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0"/>
          <p:cNvSpPr/>
          <p:nvPr/>
        </p:nvSpPr>
        <p:spPr>
          <a:xfrm>
            <a:off x="350425" y="1732238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Kit.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0"/>
          <p:cNvSpPr/>
          <p:nvPr/>
        </p:nvSpPr>
        <p:spPr>
          <a:xfrm>
            <a:off x="2050638" y="1753669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0"/>
          <p:cNvSpPr/>
          <p:nvPr/>
        </p:nvSpPr>
        <p:spPr>
          <a:xfrm>
            <a:off x="2050638" y="1753669"/>
            <a:ext cx="19584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0"/>
          <p:cNvSpPr/>
          <p:nvPr/>
        </p:nvSpPr>
        <p:spPr>
          <a:xfrm>
            <a:off x="4350925" y="1732238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73.1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0"/>
          <p:cNvSpPr/>
          <p:nvPr/>
        </p:nvSpPr>
        <p:spPr>
          <a:xfrm>
            <a:off x="350425" y="2082281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Win.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0"/>
          <p:cNvSpPr/>
          <p:nvPr/>
        </p:nvSpPr>
        <p:spPr>
          <a:xfrm>
            <a:off x="2050638" y="2103713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0"/>
          <p:cNvSpPr/>
          <p:nvPr/>
        </p:nvSpPr>
        <p:spPr>
          <a:xfrm>
            <a:off x="2050638" y="2103713"/>
            <a:ext cx="18807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0"/>
          <p:cNvSpPr/>
          <p:nvPr/>
        </p:nvSpPr>
        <p:spPr>
          <a:xfrm>
            <a:off x="4350925" y="2082281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70.2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0"/>
          <p:cNvSpPr/>
          <p:nvPr/>
        </p:nvSpPr>
        <p:spPr>
          <a:xfrm>
            <a:off x="350425" y="2432325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Northeast Barrie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0"/>
          <p:cNvSpPr/>
          <p:nvPr/>
        </p:nvSpPr>
        <p:spPr>
          <a:xfrm>
            <a:off x="2050638" y="2453756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0"/>
          <p:cNvSpPr/>
          <p:nvPr/>
        </p:nvSpPr>
        <p:spPr>
          <a:xfrm>
            <a:off x="2050638" y="2453756"/>
            <a:ext cx="15645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0"/>
          <p:cNvSpPr/>
          <p:nvPr/>
        </p:nvSpPr>
        <p:spPr>
          <a:xfrm>
            <a:off x="4350925" y="2432325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58.4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0"/>
          <p:cNvSpPr/>
          <p:nvPr/>
        </p:nvSpPr>
        <p:spPr>
          <a:xfrm>
            <a:off x="350425" y="2782369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East Wat.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0"/>
          <p:cNvSpPr/>
          <p:nvPr/>
        </p:nvSpPr>
        <p:spPr>
          <a:xfrm>
            <a:off x="2050638" y="2803800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50"/>
          <p:cNvSpPr/>
          <p:nvPr/>
        </p:nvSpPr>
        <p:spPr>
          <a:xfrm>
            <a:off x="2050638" y="2803800"/>
            <a:ext cx="15564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50"/>
          <p:cNvSpPr/>
          <p:nvPr/>
        </p:nvSpPr>
        <p:spPr>
          <a:xfrm>
            <a:off x="4350925" y="2782369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58.1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50"/>
          <p:cNvSpPr/>
          <p:nvPr/>
        </p:nvSpPr>
        <p:spPr>
          <a:xfrm>
            <a:off x="350425" y="3132413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Southwest Oshawa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0"/>
          <p:cNvSpPr/>
          <p:nvPr/>
        </p:nvSpPr>
        <p:spPr>
          <a:xfrm>
            <a:off x="2050638" y="3153844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0"/>
          <p:cNvSpPr/>
          <p:nvPr/>
        </p:nvSpPr>
        <p:spPr>
          <a:xfrm>
            <a:off x="2050638" y="3153844"/>
            <a:ext cx="15003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0"/>
          <p:cNvSpPr/>
          <p:nvPr/>
        </p:nvSpPr>
        <p:spPr>
          <a:xfrm>
            <a:off x="4350925" y="3132413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56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0"/>
          <p:cNvSpPr/>
          <p:nvPr/>
        </p:nvSpPr>
        <p:spPr>
          <a:xfrm>
            <a:off x="350425" y="3482456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Ham.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50"/>
          <p:cNvSpPr/>
          <p:nvPr/>
        </p:nvSpPr>
        <p:spPr>
          <a:xfrm>
            <a:off x="2050638" y="3503888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0"/>
          <p:cNvSpPr/>
          <p:nvPr/>
        </p:nvSpPr>
        <p:spPr>
          <a:xfrm>
            <a:off x="2050638" y="3503888"/>
            <a:ext cx="14868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0"/>
          <p:cNvSpPr/>
          <p:nvPr/>
        </p:nvSpPr>
        <p:spPr>
          <a:xfrm>
            <a:off x="4350925" y="3482456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55.5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50"/>
          <p:cNvSpPr/>
          <p:nvPr/>
        </p:nvSpPr>
        <p:spPr>
          <a:xfrm>
            <a:off x="350425" y="3832500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West Guelph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50"/>
          <p:cNvSpPr/>
          <p:nvPr/>
        </p:nvSpPr>
        <p:spPr>
          <a:xfrm>
            <a:off x="2050638" y="3853931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50"/>
          <p:cNvSpPr/>
          <p:nvPr/>
        </p:nvSpPr>
        <p:spPr>
          <a:xfrm>
            <a:off x="2050638" y="3853931"/>
            <a:ext cx="14655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50"/>
          <p:cNvSpPr/>
          <p:nvPr/>
        </p:nvSpPr>
        <p:spPr>
          <a:xfrm>
            <a:off x="4350925" y="3832500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54.7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4" name="Google Shape;514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3838" y="1389338"/>
            <a:ext cx="3429000" cy="2271713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50"/>
          <p:cNvSpPr/>
          <p:nvPr/>
        </p:nvSpPr>
        <p:spPr>
          <a:xfrm>
            <a:off x="5008150" y="3882506"/>
            <a:ext cx="21432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Top 3 from the dashboard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50"/>
          <p:cNvSpPr/>
          <p:nvPr/>
        </p:nvSpPr>
        <p:spPr>
          <a:xfrm>
            <a:off x="5008150" y="4132538"/>
            <a:ext cx="3000300" cy="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London, Northwest Kitchener, and Northwest Windsor rank highest by opportunity score and move into detailed zone/competitor analysis.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50"/>
          <p:cNvSpPr/>
          <p:nvPr/>
        </p:nvSpPr>
        <p:spPr>
          <a:xfrm>
            <a:off x="236125" y="4889775"/>
            <a:ext cx="4143300" cy="1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evidence deck | Ontario gym expansion recommendation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50"/>
          <p:cNvSpPr/>
          <p:nvPr/>
        </p:nvSpPr>
        <p:spPr>
          <a:xfrm>
            <a:off x="8501063" y="4829175"/>
            <a:ext cx="285750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50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51"/>
          <p:cNvSpPr txBox="1"/>
          <p:nvPr/>
        </p:nvSpPr>
        <p:spPr>
          <a:xfrm>
            <a:off x="347472" y="128016"/>
            <a:ext cx="24688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DEMAND SCORE CALCULATION</a:t>
            </a:r>
            <a:endParaRPr/>
          </a:p>
        </p:txBody>
      </p:sp>
      <p:sp>
        <p:nvSpPr>
          <p:cNvPr id="527" name="Google Shape;527;p51"/>
          <p:cNvSpPr txBox="1"/>
          <p:nvPr/>
        </p:nvSpPr>
        <p:spPr>
          <a:xfrm>
            <a:off x="347472" y="6949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Central London demand score calculation: 80.5</a:t>
            </a:r>
            <a:endParaRPr/>
          </a:p>
        </p:txBody>
      </p:sp>
      <p:sp>
        <p:nvSpPr>
          <p:cNvPr id="528" name="Google Shape;528;p51"/>
          <p:cNvSpPr txBox="1"/>
          <p:nvPr/>
        </p:nvSpPr>
        <p:spPr>
          <a:xfrm>
            <a:off x="365760" y="1005840"/>
            <a:ext cx="78638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4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 values are converted into comparable 0-100 points, then multiplied by demand weights.</a:t>
            </a:r>
            <a:endParaRPr/>
          </a:p>
        </p:txBody>
      </p:sp>
      <p:sp>
        <p:nvSpPr>
          <p:cNvPr id="529" name="Google Shape;529;p51"/>
          <p:cNvSpPr/>
          <p:nvPr/>
        </p:nvSpPr>
        <p:spPr>
          <a:xfrm>
            <a:off x="347472" y="1298448"/>
            <a:ext cx="8412480" cy="512064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10150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1"/>
          <p:cNvSpPr txBox="1"/>
          <p:nvPr/>
        </p:nvSpPr>
        <p:spPr>
          <a:xfrm>
            <a:off x="530352" y="14447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Percentile formula</a:t>
            </a:r>
            <a:endParaRPr/>
          </a:p>
        </p:txBody>
      </p:sp>
      <p:sp>
        <p:nvSpPr>
          <p:cNvPr id="531" name="Google Shape;531;p51"/>
          <p:cNvSpPr txBox="1"/>
          <p:nvPr/>
        </p:nvSpPr>
        <p:spPr>
          <a:xfrm>
            <a:off x="1719072" y="1417320"/>
            <a:ext cx="32461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6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Percentile score = zone rank / 58 market zones x 100</a:t>
            </a:r>
            <a:endParaRPr/>
          </a:p>
        </p:txBody>
      </p:sp>
      <p:sp>
        <p:nvSpPr>
          <p:cNvPr id="532" name="Google Shape;532;p51"/>
          <p:cNvSpPr txBox="1"/>
          <p:nvPr/>
        </p:nvSpPr>
        <p:spPr>
          <a:xfrm>
            <a:off x="4983480" y="1417320"/>
            <a:ext cx="35478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Example: Age 18-34 rank = 57 of 58, so 57 / 58 x 100 = 98.3</a:t>
            </a:r>
            <a:endParaRPr/>
          </a:p>
        </p:txBody>
      </p:sp>
      <p:sp>
        <p:nvSpPr>
          <p:cNvPr id="533" name="Google Shape;533;p51"/>
          <p:cNvSpPr/>
          <p:nvPr/>
        </p:nvSpPr>
        <p:spPr>
          <a:xfrm>
            <a:off x="347472" y="1993392"/>
            <a:ext cx="2816352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51"/>
          <p:cNvSpPr txBox="1"/>
          <p:nvPr/>
        </p:nvSpPr>
        <p:spPr>
          <a:xfrm>
            <a:off x="475488" y="210312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1: raw values to points</a:t>
            </a:r>
            <a:endParaRPr/>
          </a:p>
        </p:txBody>
      </p:sp>
      <p:sp>
        <p:nvSpPr>
          <p:cNvPr id="535" name="Google Shape;535;p51"/>
          <p:cNvSpPr txBox="1"/>
          <p:nvPr/>
        </p:nvSpPr>
        <p:spPr>
          <a:xfrm>
            <a:off x="475488" y="2423160"/>
            <a:ext cx="9601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endParaRPr/>
          </a:p>
        </p:txBody>
      </p:sp>
      <p:sp>
        <p:nvSpPr>
          <p:cNvPr id="536" name="Google Shape;536;p51"/>
          <p:cNvSpPr txBox="1"/>
          <p:nvPr/>
        </p:nvSpPr>
        <p:spPr>
          <a:xfrm>
            <a:off x="1435608" y="2423160"/>
            <a:ext cx="5029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</a:t>
            </a:r>
            <a:endParaRPr/>
          </a:p>
        </p:txBody>
      </p:sp>
      <p:sp>
        <p:nvSpPr>
          <p:cNvPr id="537" name="Google Shape;537;p51"/>
          <p:cNvSpPr txBox="1"/>
          <p:nvPr/>
        </p:nvSpPr>
        <p:spPr>
          <a:xfrm>
            <a:off x="1938528" y="24231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Rank</a:t>
            </a:r>
            <a:endParaRPr/>
          </a:p>
        </p:txBody>
      </p:sp>
      <p:sp>
        <p:nvSpPr>
          <p:cNvPr id="538" name="Google Shape;538;p51"/>
          <p:cNvSpPr txBox="1"/>
          <p:nvPr/>
        </p:nvSpPr>
        <p:spPr>
          <a:xfrm>
            <a:off x="2377440" y="2423160"/>
            <a:ext cx="41148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539" name="Google Shape;539;p51"/>
          <p:cNvSpPr txBox="1"/>
          <p:nvPr/>
        </p:nvSpPr>
        <p:spPr>
          <a:xfrm>
            <a:off x="475488" y="2624328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540" name="Google Shape;540;p51"/>
          <p:cNvSpPr txBox="1"/>
          <p:nvPr/>
        </p:nvSpPr>
        <p:spPr>
          <a:xfrm>
            <a:off x="1435608" y="2624328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541" name="Google Shape;541;p51"/>
          <p:cNvSpPr txBox="1"/>
          <p:nvPr/>
        </p:nvSpPr>
        <p:spPr>
          <a:xfrm>
            <a:off x="1938528" y="262432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57/58</a:t>
            </a:r>
            <a:endParaRPr/>
          </a:p>
        </p:txBody>
      </p:sp>
      <p:sp>
        <p:nvSpPr>
          <p:cNvPr id="542" name="Google Shape;542;p51"/>
          <p:cNvSpPr txBox="1"/>
          <p:nvPr/>
        </p:nvSpPr>
        <p:spPr>
          <a:xfrm>
            <a:off x="2377440" y="2624328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98.3</a:t>
            </a:r>
            <a:endParaRPr/>
          </a:p>
        </p:txBody>
      </p:sp>
      <p:sp>
        <p:nvSpPr>
          <p:cNvPr id="543" name="Google Shape;543;p51"/>
          <p:cNvSpPr txBox="1"/>
          <p:nvPr/>
        </p:nvSpPr>
        <p:spPr>
          <a:xfrm>
            <a:off x="475488" y="2834640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Student proxy</a:t>
            </a:r>
            <a:endParaRPr/>
          </a:p>
        </p:txBody>
      </p:sp>
      <p:sp>
        <p:nvSpPr>
          <p:cNvPr id="544" name="Google Shape;544;p51"/>
          <p:cNvSpPr txBox="1"/>
          <p:nvPr/>
        </p:nvSpPr>
        <p:spPr>
          <a:xfrm>
            <a:off x="1435608" y="2834640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8.8%</a:t>
            </a:r>
            <a:endParaRPr/>
          </a:p>
        </p:txBody>
      </p:sp>
      <p:sp>
        <p:nvSpPr>
          <p:cNvPr id="545" name="Google Shape;545;p51"/>
          <p:cNvSpPr txBox="1"/>
          <p:nvPr/>
        </p:nvSpPr>
        <p:spPr>
          <a:xfrm>
            <a:off x="1938528" y="2834640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52/58</a:t>
            </a:r>
            <a:endParaRPr/>
          </a:p>
        </p:txBody>
      </p:sp>
      <p:sp>
        <p:nvSpPr>
          <p:cNvPr id="546" name="Google Shape;546;p51"/>
          <p:cNvSpPr txBox="1"/>
          <p:nvPr/>
        </p:nvSpPr>
        <p:spPr>
          <a:xfrm>
            <a:off x="2377440" y="2834640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89.7</a:t>
            </a:r>
            <a:endParaRPr/>
          </a:p>
        </p:txBody>
      </p:sp>
      <p:sp>
        <p:nvSpPr>
          <p:cNvPr id="547" name="Google Shape;547;p51"/>
          <p:cNvSpPr txBox="1"/>
          <p:nvPr/>
        </p:nvSpPr>
        <p:spPr>
          <a:xfrm>
            <a:off x="475488" y="3044952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Renter share</a:t>
            </a:r>
            <a:endParaRPr/>
          </a:p>
        </p:txBody>
      </p:sp>
      <p:sp>
        <p:nvSpPr>
          <p:cNvPr id="548" name="Google Shape;548;p51"/>
          <p:cNvSpPr txBox="1"/>
          <p:nvPr/>
        </p:nvSpPr>
        <p:spPr>
          <a:xfrm>
            <a:off x="1435608" y="3044952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549" name="Google Shape;549;p51"/>
          <p:cNvSpPr txBox="1"/>
          <p:nvPr/>
        </p:nvSpPr>
        <p:spPr>
          <a:xfrm>
            <a:off x="1938528" y="30449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55/58</a:t>
            </a:r>
            <a:endParaRPr/>
          </a:p>
        </p:txBody>
      </p:sp>
      <p:sp>
        <p:nvSpPr>
          <p:cNvPr id="550" name="Google Shape;550;p51"/>
          <p:cNvSpPr txBox="1"/>
          <p:nvPr/>
        </p:nvSpPr>
        <p:spPr>
          <a:xfrm>
            <a:off x="2377440" y="3044952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94.8</a:t>
            </a:r>
            <a:endParaRPr/>
          </a:p>
        </p:txBody>
      </p:sp>
      <p:sp>
        <p:nvSpPr>
          <p:cNvPr id="551" name="Google Shape;551;p51"/>
          <p:cNvSpPr txBox="1"/>
          <p:nvPr/>
        </p:nvSpPr>
        <p:spPr>
          <a:xfrm>
            <a:off x="475488" y="3255264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Apartment share</a:t>
            </a:r>
            <a:endParaRPr/>
          </a:p>
        </p:txBody>
      </p:sp>
      <p:sp>
        <p:nvSpPr>
          <p:cNvPr id="552" name="Google Shape;552;p51"/>
          <p:cNvSpPr txBox="1"/>
          <p:nvPr/>
        </p:nvSpPr>
        <p:spPr>
          <a:xfrm>
            <a:off x="1435608" y="3255264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59.7%</a:t>
            </a:r>
            <a:endParaRPr/>
          </a:p>
        </p:txBody>
      </p:sp>
      <p:sp>
        <p:nvSpPr>
          <p:cNvPr id="553" name="Google Shape;553;p51"/>
          <p:cNvSpPr txBox="1"/>
          <p:nvPr/>
        </p:nvSpPr>
        <p:spPr>
          <a:xfrm>
            <a:off x="1938528" y="3255264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56/58</a:t>
            </a:r>
            <a:endParaRPr/>
          </a:p>
        </p:txBody>
      </p:sp>
      <p:sp>
        <p:nvSpPr>
          <p:cNvPr id="554" name="Google Shape;554;p51"/>
          <p:cNvSpPr txBox="1"/>
          <p:nvPr/>
        </p:nvSpPr>
        <p:spPr>
          <a:xfrm>
            <a:off x="2377440" y="3255264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96.6</a:t>
            </a:r>
            <a:endParaRPr/>
          </a:p>
        </p:txBody>
      </p:sp>
      <p:sp>
        <p:nvSpPr>
          <p:cNvPr id="555" name="Google Shape;555;p51"/>
          <p:cNvSpPr/>
          <p:nvPr/>
        </p:nvSpPr>
        <p:spPr>
          <a:xfrm>
            <a:off x="3364992" y="1993392"/>
            <a:ext cx="2834640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1"/>
          <p:cNvSpPr txBox="1"/>
          <p:nvPr/>
        </p:nvSpPr>
        <p:spPr>
          <a:xfrm>
            <a:off x="3493008" y="21031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2: apply demand weights</a:t>
            </a:r>
            <a:endParaRPr/>
          </a:p>
        </p:txBody>
      </p:sp>
      <p:sp>
        <p:nvSpPr>
          <p:cNvPr id="557" name="Google Shape;557;p51"/>
          <p:cNvSpPr txBox="1"/>
          <p:nvPr/>
        </p:nvSpPr>
        <p:spPr>
          <a:xfrm>
            <a:off x="3493008" y="240487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Category</a:t>
            </a:r>
            <a:endParaRPr/>
          </a:p>
        </p:txBody>
      </p:sp>
      <p:sp>
        <p:nvSpPr>
          <p:cNvPr id="558" name="Google Shape;558;p51"/>
          <p:cNvSpPr txBox="1"/>
          <p:nvPr/>
        </p:nvSpPr>
        <p:spPr>
          <a:xfrm>
            <a:off x="4636008" y="240487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Wt.</a:t>
            </a:r>
            <a:endParaRPr/>
          </a:p>
        </p:txBody>
      </p:sp>
      <p:sp>
        <p:nvSpPr>
          <p:cNvPr id="559" name="Google Shape;559;p51"/>
          <p:cNvSpPr txBox="1"/>
          <p:nvPr/>
        </p:nvSpPr>
        <p:spPr>
          <a:xfrm>
            <a:off x="4965192" y="240487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560" name="Google Shape;560;p51"/>
          <p:cNvSpPr txBox="1"/>
          <p:nvPr/>
        </p:nvSpPr>
        <p:spPr>
          <a:xfrm>
            <a:off x="5422392" y="240487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Pts.</a:t>
            </a:r>
            <a:endParaRPr/>
          </a:p>
        </p:txBody>
      </p:sp>
      <p:sp>
        <p:nvSpPr>
          <p:cNvPr id="561" name="Google Shape;561;p51"/>
          <p:cNvSpPr txBox="1"/>
          <p:nvPr/>
        </p:nvSpPr>
        <p:spPr>
          <a:xfrm>
            <a:off x="3493008" y="258775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562" name="Google Shape;562;p51"/>
          <p:cNvSpPr txBox="1"/>
          <p:nvPr/>
        </p:nvSpPr>
        <p:spPr>
          <a:xfrm>
            <a:off x="4636008" y="258775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</p:txBody>
      </p:sp>
      <p:sp>
        <p:nvSpPr>
          <p:cNvPr id="563" name="Google Shape;563;p51"/>
          <p:cNvSpPr txBox="1"/>
          <p:nvPr/>
        </p:nvSpPr>
        <p:spPr>
          <a:xfrm>
            <a:off x="4965192" y="258775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94.0</a:t>
            </a:r>
            <a:endParaRPr/>
          </a:p>
        </p:txBody>
      </p:sp>
      <p:sp>
        <p:nvSpPr>
          <p:cNvPr id="564" name="Google Shape;564;p51"/>
          <p:cNvSpPr txBox="1"/>
          <p:nvPr/>
        </p:nvSpPr>
        <p:spPr>
          <a:xfrm>
            <a:off x="5422392" y="258775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565" name="Google Shape;565;p51"/>
          <p:cNvSpPr txBox="1"/>
          <p:nvPr/>
        </p:nvSpPr>
        <p:spPr>
          <a:xfrm>
            <a:off x="3493008" y="2761488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566" name="Google Shape;566;p51"/>
          <p:cNvSpPr txBox="1"/>
          <p:nvPr/>
        </p:nvSpPr>
        <p:spPr>
          <a:xfrm>
            <a:off x="4636008" y="2761488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567" name="Google Shape;567;p51"/>
          <p:cNvSpPr txBox="1"/>
          <p:nvPr/>
        </p:nvSpPr>
        <p:spPr>
          <a:xfrm>
            <a:off x="4965192" y="2761488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95.7</a:t>
            </a:r>
            <a:endParaRPr/>
          </a:p>
        </p:txBody>
      </p:sp>
      <p:sp>
        <p:nvSpPr>
          <p:cNvPr id="568" name="Google Shape;568;p51"/>
          <p:cNvSpPr txBox="1"/>
          <p:nvPr/>
        </p:nvSpPr>
        <p:spPr>
          <a:xfrm>
            <a:off x="5422392" y="2761488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569" name="Google Shape;569;p51"/>
          <p:cNvSpPr txBox="1"/>
          <p:nvPr/>
        </p:nvSpPr>
        <p:spPr>
          <a:xfrm>
            <a:off x="3493008" y="2935224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570" name="Google Shape;570;p51"/>
          <p:cNvSpPr txBox="1"/>
          <p:nvPr/>
        </p:nvSpPr>
        <p:spPr>
          <a:xfrm>
            <a:off x="4636008" y="2935224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571" name="Google Shape;571;p51"/>
          <p:cNvSpPr txBox="1"/>
          <p:nvPr/>
        </p:nvSpPr>
        <p:spPr>
          <a:xfrm>
            <a:off x="4965192" y="2935224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77.1</a:t>
            </a:r>
            <a:endParaRPr/>
          </a:p>
        </p:txBody>
      </p:sp>
      <p:sp>
        <p:nvSpPr>
          <p:cNvPr id="572" name="Google Shape;572;p51"/>
          <p:cNvSpPr txBox="1"/>
          <p:nvPr/>
        </p:nvSpPr>
        <p:spPr>
          <a:xfrm>
            <a:off x="5422392" y="2935224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573" name="Google Shape;573;p51"/>
          <p:cNvSpPr txBox="1"/>
          <p:nvPr/>
        </p:nvSpPr>
        <p:spPr>
          <a:xfrm>
            <a:off x="3493008" y="3108960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574" name="Google Shape;574;p51"/>
          <p:cNvSpPr txBox="1"/>
          <p:nvPr/>
        </p:nvSpPr>
        <p:spPr>
          <a:xfrm>
            <a:off x="4636008" y="3108960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575" name="Google Shape;575;p51"/>
          <p:cNvSpPr txBox="1"/>
          <p:nvPr/>
        </p:nvSpPr>
        <p:spPr>
          <a:xfrm>
            <a:off x="4965192" y="3108960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81.9</a:t>
            </a:r>
            <a:endParaRPr/>
          </a:p>
        </p:txBody>
      </p:sp>
      <p:sp>
        <p:nvSpPr>
          <p:cNvPr id="576" name="Google Shape;576;p51"/>
          <p:cNvSpPr txBox="1"/>
          <p:nvPr/>
        </p:nvSpPr>
        <p:spPr>
          <a:xfrm>
            <a:off x="5422392" y="3108960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577" name="Google Shape;577;p51"/>
          <p:cNvSpPr txBox="1"/>
          <p:nvPr/>
        </p:nvSpPr>
        <p:spPr>
          <a:xfrm>
            <a:off x="3493008" y="3282696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578" name="Google Shape;578;p51"/>
          <p:cNvSpPr txBox="1"/>
          <p:nvPr/>
        </p:nvSpPr>
        <p:spPr>
          <a:xfrm>
            <a:off x="4636008" y="3282696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579" name="Google Shape;579;p51"/>
          <p:cNvSpPr txBox="1"/>
          <p:nvPr/>
        </p:nvSpPr>
        <p:spPr>
          <a:xfrm>
            <a:off x="4965192" y="3282696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36.4</a:t>
            </a:r>
            <a:endParaRPr/>
          </a:p>
        </p:txBody>
      </p:sp>
      <p:sp>
        <p:nvSpPr>
          <p:cNvPr id="580" name="Google Shape;580;p51"/>
          <p:cNvSpPr txBox="1"/>
          <p:nvPr/>
        </p:nvSpPr>
        <p:spPr>
          <a:xfrm>
            <a:off x="5422392" y="3282696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581" name="Google Shape;581;p51"/>
          <p:cNvSpPr/>
          <p:nvPr/>
        </p:nvSpPr>
        <p:spPr>
          <a:xfrm>
            <a:off x="6419088" y="1993392"/>
            <a:ext cx="2340864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1"/>
          <p:cNvSpPr txBox="1"/>
          <p:nvPr/>
        </p:nvSpPr>
        <p:spPr>
          <a:xfrm>
            <a:off x="6547104" y="210312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Point contribution</a:t>
            </a:r>
            <a:endParaRPr/>
          </a:p>
        </p:txBody>
      </p:sp>
      <p:sp>
        <p:nvSpPr>
          <p:cNvPr id="583" name="Google Shape;583;p51"/>
          <p:cNvSpPr txBox="1"/>
          <p:nvPr/>
        </p:nvSpPr>
        <p:spPr>
          <a:xfrm>
            <a:off x="6547104" y="242316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584" name="Google Shape;584;p51"/>
          <p:cNvSpPr/>
          <p:nvPr/>
        </p:nvSpPr>
        <p:spPr>
          <a:xfrm>
            <a:off x="7680960" y="244144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1"/>
          <p:cNvSpPr/>
          <p:nvPr/>
        </p:nvSpPr>
        <p:spPr>
          <a:xfrm>
            <a:off x="7680960" y="2441448"/>
            <a:ext cx="438363" cy="91440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51"/>
          <p:cNvSpPr txBox="1"/>
          <p:nvPr/>
        </p:nvSpPr>
        <p:spPr>
          <a:xfrm>
            <a:off x="8193024" y="241858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587" name="Google Shape;587;p51"/>
          <p:cNvSpPr txBox="1"/>
          <p:nvPr/>
        </p:nvSpPr>
        <p:spPr>
          <a:xfrm>
            <a:off x="6547104" y="260604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588" name="Google Shape;588;p51"/>
          <p:cNvSpPr/>
          <p:nvPr/>
        </p:nvSpPr>
        <p:spPr>
          <a:xfrm>
            <a:off x="7680960" y="262432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51"/>
          <p:cNvSpPr/>
          <p:nvPr/>
        </p:nvSpPr>
        <p:spPr>
          <a:xfrm>
            <a:off x="7680960" y="2624328"/>
            <a:ext cx="296905" cy="91440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1"/>
          <p:cNvSpPr txBox="1"/>
          <p:nvPr/>
        </p:nvSpPr>
        <p:spPr>
          <a:xfrm>
            <a:off x="8193024" y="260146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591" name="Google Shape;591;p51"/>
          <p:cNvSpPr txBox="1"/>
          <p:nvPr/>
        </p:nvSpPr>
        <p:spPr>
          <a:xfrm>
            <a:off x="6547104" y="278892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592" name="Google Shape;592;p51"/>
          <p:cNvSpPr/>
          <p:nvPr/>
        </p:nvSpPr>
        <p:spPr>
          <a:xfrm>
            <a:off x="7680960" y="280720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1"/>
          <p:cNvSpPr/>
          <p:nvPr/>
        </p:nvSpPr>
        <p:spPr>
          <a:xfrm>
            <a:off x="7680960" y="2807208"/>
            <a:ext cx="239389" cy="91440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1"/>
          <p:cNvSpPr txBox="1"/>
          <p:nvPr/>
        </p:nvSpPr>
        <p:spPr>
          <a:xfrm>
            <a:off x="8193024" y="278434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595" name="Google Shape;595;p51"/>
          <p:cNvSpPr txBox="1"/>
          <p:nvPr/>
        </p:nvSpPr>
        <p:spPr>
          <a:xfrm>
            <a:off x="6547104" y="297180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596" name="Google Shape;596;p51"/>
          <p:cNvSpPr/>
          <p:nvPr/>
        </p:nvSpPr>
        <p:spPr>
          <a:xfrm>
            <a:off x="7680960" y="299008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1"/>
          <p:cNvSpPr/>
          <p:nvPr/>
        </p:nvSpPr>
        <p:spPr>
          <a:xfrm>
            <a:off x="7680960" y="2990088"/>
            <a:ext cx="191201" cy="91440"/>
          </a:xfrm>
          <a:prstGeom prst="roundRect">
            <a:avLst>
              <a:gd name="adj" fmla="val 16667"/>
            </a:avLst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1"/>
          <p:cNvSpPr txBox="1"/>
          <p:nvPr/>
        </p:nvSpPr>
        <p:spPr>
          <a:xfrm>
            <a:off x="8193024" y="296722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599" name="Google Shape;599;p51"/>
          <p:cNvSpPr txBox="1"/>
          <p:nvPr/>
        </p:nvSpPr>
        <p:spPr>
          <a:xfrm>
            <a:off x="6547104" y="315468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600" name="Google Shape;600;p51"/>
          <p:cNvSpPr/>
          <p:nvPr/>
        </p:nvSpPr>
        <p:spPr>
          <a:xfrm>
            <a:off x="7680960" y="317296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1"/>
          <p:cNvSpPr/>
          <p:nvPr/>
        </p:nvSpPr>
        <p:spPr>
          <a:xfrm>
            <a:off x="7680960" y="3172968"/>
            <a:ext cx="85496" cy="91440"/>
          </a:xfrm>
          <a:prstGeom prst="roundRect">
            <a:avLst>
              <a:gd name="adj" fmla="val 16667"/>
            </a:avLst>
          </a:prstGeom>
          <a:solidFill>
            <a:srgbClr val="96A5B4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1"/>
          <p:cNvSpPr txBox="1"/>
          <p:nvPr/>
        </p:nvSpPr>
        <p:spPr>
          <a:xfrm>
            <a:off x="8193024" y="315010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603" name="Google Shape;603;p51"/>
          <p:cNvSpPr/>
          <p:nvPr/>
        </p:nvSpPr>
        <p:spPr>
          <a:xfrm>
            <a:off x="347472" y="3703320"/>
            <a:ext cx="8412480" cy="6035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1"/>
          <p:cNvSpPr txBox="1"/>
          <p:nvPr/>
        </p:nvSpPr>
        <p:spPr>
          <a:xfrm>
            <a:off x="530352" y="3858768"/>
            <a:ext cx="14173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Step 3: add weighted points</a:t>
            </a:r>
            <a:endParaRPr/>
          </a:p>
        </p:txBody>
      </p:sp>
      <p:sp>
        <p:nvSpPr>
          <p:cNvPr id="605" name="Google Shape;605;p51"/>
          <p:cNvSpPr txBox="1"/>
          <p:nvPr/>
        </p:nvSpPr>
        <p:spPr>
          <a:xfrm>
            <a:off x="1901952" y="3785615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 + 19.1 + 15.4 + 12.3 + 5.5 = 80.5</a:t>
            </a:r>
            <a:endParaRPr/>
          </a:p>
        </p:txBody>
      </p:sp>
      <p:sp>
        <p:nvSpPr>
          <p:cNvPr id="606" name="Google Shape;606;p51"/>
          <p:cNvSpPr txBox="1"/>
          <p:nvPr/>
        </p:nvSpPr>
        <p:spPr>
          <a:xfrm>
            <a:off x="6016752" y="3794760"/>
            <a:ext cx="250545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Meaning: strong young-adult, renter, apartment, density, and population signals offset a lower economic-context score.</a:t>
            </a:r>
            <a:endParaRPr/>
          </a:p>
        </p:txBody>
      </p:sp>
      <p:sp>
        <p:nvSpPr>
          <p:cNvPr id="607" name="Google Shape;607;p51"/>
          <p:cNvSpPr txBox="1"/>
          <p:nvPr/>
        </p:nvSpPr>
        <p:spPr>
          <a:xfrm>
            <a:off x="365760" y="4489704"/>
            <a:ext cx="5074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Note: component scores are normalized/ranked against the 58 market zones and rounded for presentation.</a:t>
            </a:r>
            <a:endParaRPr/>
          </a:p>
        </p:txBody>
      </p:sp>
      <p:sp>
        <p:nvSpPr>
          <p:cNvPr id="608" name="Google Shape;608;p51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609" name="Google Shape;609;p51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2"/>
          <p:cNvSpPr/>
          <p:nvPr/>
        </p:nvSpPr>
        <p:spPr>
          <a:xfrm>
            <a:off x="285875" y="596325"/>
            <a:ext cx="36960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5"/>
              <a:buFont typeface="Arial"/>
              <a:buNone/>
            </a:pPr>
            <a:r>
              <a:rPr lang="en" sz="755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TOP 3 SELECTED ZONES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52"/>
          <p:cNvSpPr/>
          <p:nvPr/>
        </p:nvSpPr>
        <p:spPr>
          <a:xfrm>
            <a:off x="285875" y="827407"/>
            <a:ext cx="7244400" cy="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33"/>
              <a:buFont typeface="Arial"/>
              <a:buNone/>
            </a:pPr>
            <a:r>
              <a:rPr lang="en" sz="1833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These are the three areas that deserve detailed site review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52"/>
          <p:cNvSpPr/>
          <p:nvPr/>
        </p:nvSpPr>
        <p:spPr>
          <a:xfrm>
            <a:off x="285875" y="1212546"/>
            <a:ext cx="75402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0"/>
              <a:buFont typeface="Arial"/>
              <a:buNone/>
            </a:pPr>
            <a:r>
              <a:rPr lang="en" sz="97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Each area has strong opportunity, zero direct budget competitors in the zone, and a clear reason to investigate property options.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52"/>
          <p:cNvSpPr/>
          <p:nvPr/>
        </p:nvSpPr>
        <p:spPr>
          <a:xfrm>
            <a:off x="359798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FF8EF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52"/>
          <p:cNvSpPr/>
          <p:nvPr/>
        </p:nvSpPr>
        <p:spPr>
          <a:xfrm>
            <a:off x="507644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FFE7D4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52"/>
          <p:cNvSpPr/>
          <p:nvPr/>
        </p:nvSpPr>
        <p:spPr>
          <a:xfrm>
            <a:off x="566782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#1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52"/>
          <p:cNvSpPr/>
          <p:nvPr/>
        </p:nvSpPr>
        <p:spPr>
          <a:xfrm>
            <a:off x="507644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52"/>
          <p:cNvSpPr/>
          <p:nvPr/>
        </p:nvSpPr>
        <p:spPr>
          <a:xfrm>
            <a:off x="507644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London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52"/>
          <p:cNvSpPr/>
          <p:nvPr/>
        </p:nvSpPr>
        <p:spPr>
          <a:xfrm>
            <a:off x="507644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74.7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80.5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66,084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3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52"/>
          <p:cNvSpPr/>
          <p:nvPr/>
        </p:nvSpPr>
        <p:spPr>
          <a:xfrm>
            <a:off x="507644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DC7A3A"/>
                </a:solidFill>
                <a:latin typeface="Calibri"/>
                <a:ea typeface="Calibri"/>
                <a:cs typeface="Calibri"/>
                <a:sym typeface="Calibri"/>
              </a:rPr>
              <a:t>Best first search area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52"/>
          <p:cNvSpPr/>
          <p:nvPr/>
        </p:nvSpPr>
        <p:spPr>
          <a:xfrm>
            <a:off x="3279752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52"/>
          <p:cNvSpPr/>
          <p:nvPr/>
        </p:nvSpPr>
        <p:spPr>
          <a:xfrm>
            <a:off x="3427597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52"/>
          <p:cNvSpPr/>
          <p:nvPr/>
        </p:nvSpPr>
        <p:spPr>
          <a:xfrm>
            <a:off x="3486736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52"/>
          <p:cNvSpPr/>
          <p:nvPr/>
        </p:nvSpPr>
        <p:spPr>
          <a:xfrm>
            <a:off x="3427597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Kitchener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3427597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Kitchener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52"/>
          <p:cNvSpPr/>
          <p:nvPr/>
        </p:nvSpPr>
        <p:spPr>
          <a:xfrm>
            <a:off x="3427597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73.1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84.8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57,032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6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52"/>
          <p:cNvSpPr/>
          <p:nvPr/>
        </p:nvSpPr>
        <p:spPr>
          <a:xfrm>
            <a:off x="3427597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Very strong demand, needs site precision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6199705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6347551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6406689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#3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52"/>
          <p:cNvSpPr/>
          <p:nvPr/>
        </p:nvSpPr>
        <p:spPr>
          <a:xfrm>
            <a:off x="6347551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Windsor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52"/>
          <p:cNvSpPr/>
          <p:nvPr/>
        </p:nvSpPr>
        <p:spPr>
          <a:xfrm>
            <a:off x="6347551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Windsor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52"/>
          <p:cNvSpPr/>
          <p:nvPr/>
        </p:nvSpPr>
        <p:spPr>
          <a:xfrm>
            <a:off x="6347551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70.2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76.8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59,563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4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52"/>
          <p:cNvSpPr/>
          <p:nvPr/>
        </p:nvSpPr>
        <p:spPr>
          <a:xfrm>
            <a:off x="6347551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Strong value gap, verify west-side trade nodes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2"/>
          <p:cNvSpPr/>
          <p:nvPr/>
        </p:nvSpPr>
        <p:spPr>
          <a:xfrm>
            <a:off x="371475" y="4829175"/>
            <a:ext cx="4143375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evidence deck | Ontario gym expansion recommendation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2"/>
          <p:cNvSpPr/>
          <p:nvPr/>
        </p:nvSpPr>
        <p:spPr>
          <a:xfrm>
            <a:off x="8501063" y="4829175"/>
            <a:ext cx="285750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2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53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650" name="Google Shape;650;p53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#1 Central London: priced chain leaves room below $35</a:t>
            </a:r>
            <a:endParaRPr/>
          </a:p>
        </p:txBody>
      </p:sp>
      <p:sp>
        <p:nvSpPr>
          <p:cNvPr id="651" name="Google Shape;651;p53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652" name="Google Shape;652;p53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London</a:t>
            </a:r>
            <a:endParaRPr/>
          </a:p>
        </p:txBody>
      </p:sp>
      <p:sp>
        <p:nvSpPr>
          <p:cNvPr id="653" name="Google Shape;653;p53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3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655" name="Google Shape;655;p53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656" name="Google Shape;656;p53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3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3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659" name="Google Shape;659;p53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80.5</a:t>
            </a:r>
            <a:endParaRPr/>
          </a:p>
        </p:txBody>
      </p:sp>
      <p:sp>
        <p:nvSpPr>
          <p:cNvPr id="660" name="Google Shape;660;p53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3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3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663" name="Google Shape;663;p53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0.45</a:t>
            </a:r>
            <a:endParaRPr/>
          </a:p>
        </p:txBody>
      </p:sp>
      <p:sp>
        <p:nvSpPr>
          <p:cNvPr id="664" name="Google Shape;664;p53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665" name="Google Shape;665;p53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53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3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668" name="Google Shape;668;p53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669" name="Google Shape;669;p53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670" name="Google Shape;670;p53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3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53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673" name="Google Shape;673;p53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674" name="Google Shape;674;p53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53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53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677" name="Google Shape;677;p53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678" name="Google Shape;678;p53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3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3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681" name="Google Shape;681;p53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3"/>
          <p:cNvSpPr/>
          <p:nvPr/>
        </p:nvSpPr>
        <p:spPr>
          <a:xfrm>
            <a:off x="566928" y="3310128"/>
            <a:ext cx="390906" cy="429768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53"/>
          <p:cNvSpPr txBox="1"/>
          <p:nvPr/>
        </p:nvSpPr>
        <p:spPr>
          <a:xfrm>
            <a:off x="566928" y="3163824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684" name="Google Shape;684;p53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685" name="Google Shape;685;p53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53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687" name="Google Shape;687;p53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688" name="Google Shape;688;p53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53"/>
          <p:cNvSpPr/>
          <p:nvPr/>
        </p:nvSpPr>
        <p:spPr>
          <a:xfrm>
            <a:off x="1568195" y="3596640"/>
            <a:ext cx="390906" cy="143255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3"/>
          <p:cNvSpPr txBox="1"/>
          <p:nvPr/>
        </p:nvSpPr>
        <p:spPr>
          <a:xfrm>
            <a:off x="1568195" y="3450335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691" name="Google Shape;691;p53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692" name="Google Shape;692;p53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3"/>
          <p:cNvSpPr/>
          <p:nvPr/>
        </p:nvSpPr>
        <p:spPr>
          <a:xfrm>
            <a:off x="2068830" y="3453383"/>
            <a:ext cx="390906" cy="286511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3"/>
          <p:cNvSpPr txBox="1"/>
          <p:nvPr/>
        </p:nvSpPr>
        <p:spPr>
          <a:xfrm>
            <a:off x="2068830" y="3307079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695" name="Google Shape;695;p53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696" name="Google Shape;696;p53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697" name="Google Shape;697;p53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53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699" name="Google Shape;699;p53"/>
          <p:cNvSpPr txBox="1"/>
          <p:nvPr/>
        </p:nvSpPr>
        <p:spPr>
          <a:xfrm>
            <a:off x="3017520" y="285292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00" name="Google Shape;700;p53"/>
          <p:cNvSpPr/>
          <p:nvPr/>
        </p:nvSpPr>
        <p:spPr>
          <a:xfrm>
            <a:off x="3767328" y="287121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3"/>
          <p:cNvSpPr/>
          <p:nvPr/>
        </p:nvSpPr>
        <p:spPr>
          <a:xfrm>
            <a:off x="3767328" y="287121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3"/>
          <p:cNvSpPr txBox="1"/>
          <p:nvPr/>
        </p:nvSpPr>
        <p:spPr>
          <a:xfrm>
            <a:off x="4864608" y="284378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703" name="Google Shape;703;p53"/>
          <p:cNvSpPr txBox="1"/>
          <p:nvPr/>
        </p:nvSpPr>
        <p:spPr>
          <a:xfrm>
            <a:off x="3017520" y="3099816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Fit4Less</a:t>
            </a:r>
            <a:endParaRPr/>
          </a:p>
        </p:txBody>
      </p:sp>
      <p:sp>
        <p:nvSpPr>
          <p:cNvPr id="704" name="Google Shape;704;p53"/>
          <p:cNvSpPr/>
          <p:nvPr/>
        </p:nvSpPr>
        <p:spPr>
          <a:xfrm>
            <a:off x="3767328" y="3118104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53"/>
          <p:cNvSpPr/>
          <p:nvPr/>
        </p:nvSpPr>
        <p:spPr>
          <a:xfrm>
            <a:off x="3767328" y="3118104"/>
            <a:ext cx="42740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53"/>
          <p:cNvSpPr txBox="1"/>
          <p:nvPr/>
        </p:nvSpPr>
        <p:spPr>
          <a:xfrm>
            <a:off x="4864608" y="3090672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$16</a:t>
            </a:r>
            <a:endParaRPr/>
          </a:p>
        </p:txBody>
      </p:sp>
      <p:sp>
        <p:nvSpPr>
          <p:cNvPr id="707" name="Google Shape;707;p53"/>
          <p:cNvSpPr txBox="1"/>
          <p:nvPr/>
        </p:nvSpPr>
        <p:spPr>
          <a:xfrm>
            <a:off x="3017520" y="334670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Crunch</a:t>
            </a:r>
            <a:endParaRPr/>
          </a:p>
        </p:txBody>
      </p:sp>
      <p:sp>
        <p:nvSpPr>
          <p:cNvPr id="708" name="Google Shape;708;p53"/>
          <p:cNvSpPr/>
          <p:nvPr/>
        </p:nvSpPr>
        <p:spPr>
          <a:xfrm>
            <a:off x="3767328" y="336499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53"/>
          <p:cNvSpPr/>
          <p:nvPr/>
        </p:nvSpPr>
        <p:spPr>
          <a:xfrm>
            <a:off x="3767328" y="3364992"/>
            <a:ext cx="427671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53"/>
          <p:cNvSpPr txBox="1"/>
          <p:nvPr/>
        </p:nvSpPr>
        <p:spPr>
          <a:xfrm>
            <a:off x="4864608" y="333756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$16</a:t>
            </a:r>
            <a:endParaRPr/>
          </a:p>
        </p:txBody>
      </p:sp>
      <p:sp>
        <p:nvSpPr>
          <p:cNvPr id="711" name="Google Shape;711;p53"/>
          <p:cNvSpPr txBox="1"/>
          <p:nvPr/>
        </p:nvSpPr>
        <p:spPr>
          <a:xfrm>
            <a:off x="3017520" y="3593592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GoodLife</a:t>
            </a:r>
            <a:endParaRPr/>
          </a:p>
        </p:txBody>
      </p:sp>
      <p:sp>
        <p:nvSpPr>
          <p:cNvPr id="712" name="Google Shape;712;p53"/>
          <p:cNvSpPr/>
          <p:nvPr/>
        </p:nvSpPr>
        <p:spPr>
          <a:xfrm>
            <a:off x="3767328" y="3611880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53"/>
          <p:cNvSpPr/>
          <p:nvPr/>
        </p:nvSpPr>
        <p:spPr>
          <a:xfrm>
            <a:off x="3767328" y="3611880"/>
            <a:ext cx="936117" cy="109728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53"/>
          <p:cNvSpPr txBox="1"/>
          <p:nvPr/>
        </p:nvSpPr>
        <p:spPr>
          <a:xfrm>
            <a:off x="4864608" y="3584448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$35</a:t>
            </a:r>
            <a:endParaRPr/>
          </a:p>
        </p:txBody>
      </p:sp>
      <p:sp>
        <p:nvSpPr>
          <p:cNvPr id="715" name="Google Shape;715;p53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Visible priced competitor is about $19-$20 above budget-chain benchmarks.</a:t>
            </a:r>
            <a:endParaRPr/>
          </a:p>
        </p:txBody>
      </p:sp>
      <p:sp>
        <p:nvSpPr>
          <p:cNvPr id="716" name="Google Shape;716;p53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53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718" name="Google Shape;718;p53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719" name="Google Shape;719;p53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720" name="Google Shape;720;p53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721" name="Google Shape;721;p53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722" name="Google Shape;722;p53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GoodLife Fitness</a:t>
            </a:r>
            <a:endParaRPr/>
          </a:p>
        </p:txBody>
      </p:sp>
      <p:sp>
        <p:nvSpPr>
          <p:cNvPr id="723" name="Google Shape;723;p53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Mid/Premium</a:t>
            </a:r>
            <a:endParaRPr/>
          </a:p>
        </p:txBody>
      </p:sp>
      <p:sp>
        <p:nvSpPr>
          <p:cNvPr id="724" name="Google Shape;724;p53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  <a:endParaRPr/>
          </a:p>
        </p:txBody>
      </p:sp>
      <p:sp>
        <p:nvSpPr>
          <p:cNvPr id="725" name="Google Shape;725;p53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493</a:t>
            </a:r>
            <a:endParaRPr/>
          </a:p>
        </p:txBody>
      </p:sp>
      <p:sp>
        <p:nvSpPr>
          <p:cNvPr id="726" name="Google Shape;726;p53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Elite Personal Fit...</a:t>
            </a:r>
            <a:endParaRPr/>
          </a:p>
        </p:txBody>
      </p:sp>
      <p:sp>
        <p:nvSpPr>
          <p:cNvPr id="727" name="Google Shape;727;p53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728" name="Google Shape;728;p53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5.0</a:t>
            </a:r>
            <a:endParaRPr/>
          </a:p>
        </p:txBody>
      </p:sp>
      <p:sp>
        <p:nvSpPr>
          <p:cNvPr id="729" name="Google Shape;729;p53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30" name="Google Shape;730;p53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Yoga Shack</a:t>
            </a:r>
            <a:endParaRPr/>
          </a:p>
        </p:txBody>
      </p:sp>
      <p:sp>
        <p:nvSpPr>
          <p:cNvPr id="731" name="Google Shape;731;p53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732" name="Google Shape;732;p53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733" name="Google Shape;733;p53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34" name="Google Shape;734;p53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53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736" name="Google Shape;736;p53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Best first review: high demand, low gym density, and no direct budget competitor. Test a value gym near student/downtown access nodes.</a:t>
            </a:r>
            <a:endParaRPr/>
          </a:p>
        </p:txBody>
      </p:sp>
      <p:sp>
        <p:nvSpPr>
          <p:cNvPr id="737" name="Google Shape;737;p53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738" name="Google Shape;738;p5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739" name="Google Shape;739;p53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5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54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54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749" name="Google Shape;749;p54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#2 Northwest Kitchener: boutique-heavy supply</a:t>
            </a:r>
            <a:endParaRPr/>
          </a:p>
        </p:txBody>
      </p:sp>
      <p:sp>
        <p:nvSpPr>
          <p:cNvPr id="750" name="Google Shape;750;p54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751" name="Google Shape;751;p54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Kitchener</a:t>
            </a:r>
            <a:endParaRPr/>
          </a:p>
        </p:txBody>
      </p:sp>
      <p:sp>
        <p:nvSpPr>
          <p:cNvPr id="752" name="Google Shape;752;p54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54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754" name="Google Shape;754;p54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755" name="Google Shape;755;p54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54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54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758" name="Google Shape;758;p54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84.8</a:t>
            </a:r>
            <a:endParaRPr/>
          </a:p>
        </p:txBody>
      </p:sp>
      <p:sp>
        <p:nvSpPr>
          <p:cNvPr id="759" name="Google Shape;759;p54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54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54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762" name="Google Shape;762;p54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1.05</a:t>
            </a:r>
            <a:endParaRPr/>
          </a:p>
        </p:txBody>
      </p:sp>
      <p:sp>
        <p:nvSpPr>
          <p:cNvPr id="763" name="Google Shape;763;p54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764" name="Google Shape;764;p54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4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54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767" name="Google Shape;767;p54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68" name="Google Shape;768;p54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769" name="Google Shape;769;p54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54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54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772" name="Google Shape;772;p54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30.2%</a:t>
            </a:r>
            <a:endParaRPr/>
          </a:p>
        </p:txBody>
      </p:sp>
      <p:sp>
        <p:nvSpPr>
          <p:cNvPr id="773" name="Google Shape;773;p54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54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54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776" name="Google Shape;776;p54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61.8%</a:t>
            </a:r>
            <a:endParaRPr/>
          </a:p>
        </p:txBody>
      </p:sp>
      <p:sp>
        <p:nvSpPr>
          <p:cNvPr id="777" name="Google Shape;777;p54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54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54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780" name="Google Shape;780;p54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54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54"/>
          <p:cNvSpPr txBox="1"/>
          <p:nvPr/>
        </p:nvSpPr>
        <p:spPr>
          <a:xfrm>
            <a:off x="566928" y="2734056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783" name="Google Shape;783;p54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784" name="Google Shape;784;p54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54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86" name="Google Shape;786;p54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87" name="Google Shape;787;p54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54"/>
          <p:cNvSpPr/>
          <p:nvPr/>
        </p:nvSpPr>
        <p:spPr>
          <a:xfrm>
            <a:off x="1568195" y="3596640"/>
            <a:ext cx="390906" cy="143255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54"/>
          <p:cNvSpPr txBox="1"/>
          <p:nvPr/>
        </p:nvSpPr>
        <p:spPr>
          <a:xfrm>
            <a:off x="1568195" y="3450335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790" name="Google Shape;790;p54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791" name="Google Shape;791;p54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54"/>
          <p:cNvSpPr/>
          <p:nvPr/>
        </p:nvSpPr>
        <p:spPr>
          <a:xfrm>
            <a:off x="2068830" y="3023616"/>
            <a:ext cx="390906" cy="716279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54"/>
          <p:cNvSpPr txBox="1"/>
          <p:nvPr/>
        </p:nvSpPr>
        <p:spPr>
          <a:xfrm>
            <a:off x="2068830" y="2877312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94" name="Google Shape;794;p54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795" name="Google Shape;795;p54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796" name="Google Shape;796;p54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54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798" name="Google Shape;798;p54"/>
          <p:cNvSpPr txBox="1"/>
          <p:nvPr/>
        </p:nvSpPr>
        <p:spPr>
          <a:xfrm>
            <a:off x="3017520" y="294436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99" name="Google Shape;799;p54"/>
          <p:cNvSpPr/>
          <p:nvPr/>
        </p:nvSpPr>
        <p:spPr>
          <a:xfrm>
            <a:off x="3767328" y="296265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54"/>
          <p:cNvSpPr/>
          <p:nvPr/>
        </p:nvSpPr>
        <p:spPr>
          <a:xfrm>
            <a:off x="3767328" y="296265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54"/>
          <p:cNvSpPr txBox="1"/>
          <p:nvPr/>
        </p:nvSpPr>
        <p:spPr>
          <a:xfrm>
            <a:off x="4864608" y="293522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802" name="Google Shape;802;p54"/>
          <p:cNvSpPr txBox="1"/>
          <p:nvPr/>
        </p:nvSpPr>
        <p:spPr>
          <a:xfrm>
            <a:off x="3017520" y="325526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/>
          </a:p>
        </p:txBody>
      </p:sp>
      <p:sp>
        <p:nvSpPr>
          <p:cNvPr id="803" name="Google Shape;803;p54"/>
          <p:cNvSpPr/>
          <p:nvPr/>
        </p:nvSpPr>
        <p:spPr>
          <a:xfrm>
            <a:off x="3767328" y="327355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54"/>
          <p:cNvSpPr/>
          <p:nvPr/>
        </p:nvSpPr>
        <p:spPr>
          <a:xfrm>
            <a:off x="3767328" y="3273552"/>
            <a:ext cx="53492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54"/>
          <p:cNvSpPr txBox="1"/>
          <p:nvPr/>
        </p:nvSpPr>
        <p:spPr>
          <a:xfrm>
            <a:off x="4864608" y="324612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$20</a:t>
            </a:r>
            <a:endParaRPr/>
          </a:p>
        </p:txBody>
      </p:sp>
      <p:sp>
        <p:nvSpPr>
          <p:cNvPr id="806" name="Google Shape;806;p54"/>
          <p:cNvSpPr txBox="1"/>
          <p:nvPr/>
        </p:nvSpPr>
        <p:spPr>
          <a:xfrm>
            <a:off x="3017520" y="3566160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Known fees</a:t>
            </a:r>
            <a:endParaRPr/>
          </a:p>
        </p:txBody>
      </p:sp>
      <p:sp>
        <p:nvSpPr>
          <p:cNvPr id="807" name="Google Shape;807;p54"/>
          <p:cNvSpPr/>
          <p:nvPr/>
        </p:nvSpPr>
        <p:spPr>
          <a:xfrm>
            <a:off x="3767328" y="3584448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54"/>
          <p:cNvSpPr txBox="1"/>
          <p:nvPr/>
        </p:nvSpPr>
        <p:spPr>
          <a:xfrm>
            <a:off x="4864608" y="3557016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809" name="Google Shape;809;p54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Fee gap needs manual verification; category gap is still visible.</a:t>
            </a:r>
            <a:endParaRPr/>
          </a:p>
        </p:txBody>
      </p:sp>
      <p:sp>
        <p:nvSpPr>
          <p:cNvPr id="810" name="Google Shape;810;p54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54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812" name="Google Shape;812;p54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813" name="Google Shape;813;p54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814" name="Google Shape;814;p54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815" name="Google Shape;815;p54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816" name="Google Shape;816;p54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Midtown Yoga KW</a:t>
            </a:r>
            <a:endParaRPr/>
          </a:p>
        </p:txBody>
      </p:sp>
      <p:sp>
        <p:nvSpPr>
          <p:cNvPr id="817" name="Google Shape;817;p54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818" name="Google Shape;818;p54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4.9</a:t>
            </a:r>
            <a:endParaRPr/>
          </a:p>
        </p:txBody>
      </p:sp>
      <p:sp>
        <p:nvSpPr>
          <p:cNvPr id="819" name="Google Shape;819;p54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289</a:t>
            </a:r>
            <a:endParaRPr/>
          </a:p>
        </p:txBody>
      </p:sp>
      <p:sp>
        <p:nvSpPr>
          <p:cNvPr id="820" name="Google Shape;820;p54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F45 Training</a:t>
            </a:r>
            <a:endParaRPr/>
          </a:p>
        </p:txBody>
      </p:sp>
      <p:sp>
        <p:nvSpPr>
          <p:cNvPr id="821" name="Google Shape;821;p54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</a:t>
            </a:r>
            <a:endParaRPr/>
          </a:p>
        </p:txBody>
      </p:sp>
      <p:sp>
        <p:nvSpPr>
          <p:cNvPr id="822" name="Google Shape;822;p54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823" name="Google Shape;823;p54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  <a:endParaRPr/>
          </a:p>
        </p:txBody>
      </p:sp>
      <p:sp>
        <p:nvSpPr>
          <p:cNvPr id="824" name="Google Shape;824;p54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ZM Cycle and Fitness</a:t>
            </a:r>
            <a:endParaRPr/>
          </a:p>
        </p:txBody>
      </p:sp>
      <p:sp>
        <p:nvSpPr>
          <p:cNvPr id="825" name="Google Shape;825;p54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826" name="Google Shape;826;p54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  <a:endParaRPr/>
          </a:p>
        </p:txBody>
      </p:sp>
      <p:sp>
        <p:nvSpPr>
          <p:cNvPr id="827" name="Google Shape;827;p54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  <a:endParaRPr/>
          </a:p>
        </p:txBody>
      </p:sp>
      <p:sp>
        <p:nvSpPr>
          <p:cNvPr id="828" name="Google Shape;828;p54"/>
          <p:cNvSpPr txBox="1"/>
          <p:nvPr/>
        </p:nvSpPr>
        <p:spPr>
          <a:xfrm>
            <a:off x="5614416" y="3776472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Volpe Martial Arts</a:t>
            </a:r>
            <a:endParaRPr/>
          </a:p>
        </p:txBody>
      </p:sp>
      <p:sp>
        <p:nvSpPr>
          <p:cNvPr id="829" name="Google Shape;829;p54"/>
          <p:cNvSpPr txBox="1"/>
          <p:nvPr/>
        </p:nvSpPr>
        <p:spPr>
          <a:xfrm>
            <a:off x="6784848" y="3776472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830" name="Google Shape;830;p54"/>
          <p:cNvSpPr txBox="1"/>
          <p:nvPr/>
        </p:nvSpPr>
        <p:spPr>
          <a:xfrm>
            <a:off x="7516367" y="3776472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5.0</a:t>
            </a:r>
            <a:endParaRPr/>
          </a:p>
        </p:txBody>
      </p:sp>
      <p:sp>
        <p:nvSpPr>
          <p:cNvPr id="831" name="Google Shape;831;p54"/>
          <p:cNvSpPr txBox="1"/>
          <p:nvPr/>
        </p:nvSpPr>
        <p:spPr>
          <a:xfrm>
            <a:off x="7946136" y="3776472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  <a:endParaRPr/>
          </a:p>
        </p:txBody>
      </p:sp>
      <p:sp>
        <p:nvSpPr>
          <p:cNvPr id="832" name="Google Shape;832;p54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54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834" name="Google Shape;834;p54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Strong second review: demand is highest among the top three, but existing supply is mainly local/specialty. Budget positioning can still differentiate.</a:t>
            </a:r>
            <a:endParaRPr/>
          </a:p>
        </p:txBody>
      </p:sp>
      <p:sp>
        <p:nvSpPr>
          <p:cNvPr id="835" name="Google Shape;835;p54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836" name="Google Shape;836;p54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837" name="Google Shape;837;p54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54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5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55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55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847" name="Google Shape;847;p55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#3 Northwest Windsor: no budget chain in value market</a:t>
            </a:r>
            <a:endParaRPr/>
          </a:p>
        </p:txBody>
      </p:sp>
      <p:sp>
        <p:nvSpPr>
          <p:cNvPr id="848" name="Google Shape;848;p55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849" name="Google Shape;849;p55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Windsor</a:t>
            </a:r>
            <a:endParaRPr/>
          </a:p>
        </p:txBody>
      </p:sp>
      <p:sp>
        <p:nvSpPr>
          <p:cNvPr id="850" name="Google Shape;850;p55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55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852" name="Google Shape;852;p55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853" name="Google Shape;853;p55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55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55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856" name="Google Shape;856;p55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76.8</a:t>
            </a:r>
            <a:endParaRPr/>
          </a:p>
        </p:txBody>
      </p:sp>
      <p:sp>
        <p:nvSpPr>
          <p:cNvPr id="857" name="Google Shape;857;p55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55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55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860" name="Google Shape;860;p55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0.67</a:t>
            </a:r>
            <a:endParaRPr/>
          </a:p>
        </p:txBody>
      </p:sp>
      <p:sp>
        <p:nvSpPr>
          <p:cNvPr id="861" name="Google Shape;861;p55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862" name="Google Shape;862;p55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55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55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865" name="Google Shape;865;p55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66" name="Google Shape;866;p55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867" name="Google Shape;867;p55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55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55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870" name="Google Shape;870;p55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29.0%</a:t>
            </a:r>
            <a:endParaRPr/>
          </a:p>
        </p:txBody>
      </p:sp>
      <p:sp>
        <p:nvSpPr>
          <p:cNvPr id="871" name="Google Shape;871;p55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55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55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874" name="Google Shape;874;p55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58.1%</a:t>
            </a:r>
            <a:endParaRPr/>
          </a:p>
        </p:txBody>
      </p:sp>
      <p:sp>
        <p:nvSpPr>
          <p:cNvPr id="875" name="Google Shape;875;p55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55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55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878" name="Google Shape;878;p55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55"/>
          <p:cNvSpPr/>
          <p:nvPr/>
        </p:nvSpPr>
        <p:spPr>
          <a:xfrm>
            <a:off x="566928" y="3166872"/>
            <a:ext cx="390906" cy="573023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55"/>
          <p:cNvSpPr txBox="1"/>
          <p:nvPr/>
        </p:nvSpPr>
        <p:spPr>
          <a:xfrm>
            <a:off x="566928" y="3020568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881" name="Google Shape;881;p55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882" name="Google Shape;882;p55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55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84" name="Google Shape;884;p55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885" name="Google Shape;885;p55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55"/>
          <p:cNvSpPr txBox="1"/>
          <p:nvPr/>
        </p:nvSpPr>
        <p:spPr>
          <a:xfrm>
            <a:off x="1568195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87" name="Google Shape;887;p55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2068830" y="3166872"/>
            <a:ext cx="390906" cy="573023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55"/>
          <p:cNvSpPr txBox="1"/>
          <p:nvPr/>
        </p:nvSpPr>
        <p:spPr>
          <a:xfrm>
            <a:off x="2068830" y="3020568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891" name="Google Shape;891;p55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892" name="Google Shape;892;p55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893" name="Google Shape;893;p55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55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895" name="Google Shape;895;p55"/>
          <p:cNvSpPr txBox="1"/>
          <p:nvPr/>
        </p:nvSpPr>
        <p:spPr>
          <a:xfrm>
            <a:off x="3017520" y="294436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896" name="Google Shape;896;p55"/>
          <p:cNvSpPr/>
          <p:nvPr/>
        </p:nvSpPr>
        <p:spPr>
          <a:xfrm>
            <a:off x="3767328" y="296265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55"/>
          <p:cNvSpPr/>
          <p:nvPr/>
        </p:nvSpPr>
        <p:spPr>
          <a:xfrm>
            <a:off x="3767328" y="296265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55"/>
          <p:cNvSpPr txBox="1"/>
          <p:nvPr/>
        </p:nvSpPr>
        <p:spPr>
          <a:xfrm>
            <a:off x="4864608" y="293522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899" name="Google Shape;899;p55"/>
          <p:cNvSpPr txBox="1"/>
          <p:nvPr/>
        </p:nvSpPr>
        <p:spPr>
          <a:xfrm>
            <a:off x="3017520" y="325526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/>
          </a:p>
        </p:txBody>
      </p:sp>
      <p:sp>
        <p:nvSpPr>
          <p:cNvPr id="900" name="Google Shape;900;p55"/>
          <p:cNvSpPr/>
          <p:nvPr/>
        </p:nvSpPr>
        <p:spPr>
          <a:xfrm>
            <a:off x="3767328" y="327355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55"/>
          <p:cNvSpPr/>
          <p:nvPr/>
        </p:nvSpPr>
        <p:spPr>
          <a:xfrm>
            <a:off x="3767328" y="3273552"/>
            <a:ext cx="53492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55"/>
          <p:cNvSpPr txBox="1"/>
          <p:nvPr/>
        </p:nvSpPr>
        <p:spPr>
          <a:xfrm>
            <a:off x="4864608" y="324612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$20</a:t>
            </a:r>
            <a:endParaRPr/>
          </a:p>
        </p:txBody>
      </p:sp>
      <p:sp>
        <p:nvSpPr>
          <p:cNvPr id="903" name="Google Shape;903;p55"/>
          <p:cNvSpPr txBox="1"/>
          <p:nvPr/>
        </p:nvSpPr>
        <p:spPr>
          <a:xfrm>
            <a:off x="3017520" y="3566160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Known fees</a:t>
            </a:r>
            <a:endParaRPr/>
          </a:p>
        </p:txBody>
      </p:sp>
      <p:sp>
        <p:nvSpPr>
          <p:cNvPr id="904" name="Google Shape;904;p55"/>
          <p:cNvSpPr/>
          <p:nvPr/>
        </p:nvSpPr>
        <p:spPr>
          <a:xfrm>
            <a:off x="3767328" y="3584448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55"/>
          <p:cNvSpPr txBox="1"/>
          <p:nvPr/>
        </p:nvSpPr>
        <p:spPr>
          <a:xfrm>
            <a:off x="4864608" y="3557016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906" name="Google Shape;906;p55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Fee gap needs manual verification; category gap is still visible.</a:t>
            </a:r>
            <a:endParaRPr/>
          </a:p>
        </p:txBody>
      </p:sp>
      <p:sp>
        <p:nvSpPr>
          <p:cNvPr id="907" name="Google Shape;907;p55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55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909" name="Google Shape;909;p55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910" name="Google Shape;910;p55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911" name="Google Shape;911;p55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912" name="Google Shape;912;p55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913" name="Google Shape;913;p55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Windsor Rock Gym</a:t>
            </a:r>
            <a:endParaRPr/>
          </a:p>
        </p:txBody>
      </p:sp>
      <p:sp>
        <p:nvSpPr>
          <p:cNvPr id="914" name="Google Shape;914;p55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15" name="Google Shape;915;p55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916" name="Google Shape;916;p55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  <a:endParaRPr/>
          </a:p>
        </p:txBody>
      </p:sp>
      <p:sp>
        <p:nvSpPr>
          <p:cNvPr id="917" name="Google Shape;917;p55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True Fitness Windsor</a:t>
            </a:r>
            <a:endParaRPr/>
          </a:p>
        </p:txBody>
      </p:sp>
      <p:sp>
        <p:nvSpPr>
          <p:cNvPr id="918" name="Google Shape;918;p55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19" name="Google Shape;919;p55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  <a:endParaRPr/>
          </a:p>
        </p:txBody>
      </p:sp>
      <p:sp>
        <p:nvSpPr>
          <p:cNvPr id="920" name="Google Shape;920;p55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  <a:endParaRPr/>
          </a:p>
        </p:txBody>
      </p:sp>
      <p:sp>
        <p:nvSpPr>
          <p:cNvPr id="921" name="Google Shape;921;p55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Refine Fitness Stu...</a:t>
            </a:r>
            <a:endParaRPr/>
          </a:p>
        </p:txBody>
      </p:sp>
      <p:sp>
        <p:nvSpPr>
          <p:cNvPr id="922" name="Google Shape;922;p55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23" name="Google Shape;923;p55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924" name="Google Shape;924;p55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  <a:endParaRPr/>
          </a:p>
        </p:txBody>
      </p:sp>
      <p:sp>
        <p:nvSpPr>
          <p:cNvPr id="925" name="Google Shape;925;p55"/>
          <p:cNvSpPr txBox="1"/>
          <p:nvPr/>
        </p:nvSpPr>
        <p:spPr>
          <a:xfrm>
            <a:off x="5614416" y="3776472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Jackson Park Medic...</a:t>
            </a:r>
            <a:endParaRPr/>
          </a:p>
        </p:txBody>
      </p:sp>
      <p:sp>
        <p:nvSpPr>
          <p:cNvPr id="926" name="Google Shape;926;p55"/>
          <p:cNvSpPr txBox="1"/>
          <p:nvPr/>
        </p:nvSpPr>
        <p:spPr>
          <a:xfrm>
            <a:off x="6784848" y="3776472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27" name="Google Shape;927;p55"/>
          <p:cNvSpPr txBox="1"/>
          <p:nvPr/>
        </p:nvSpPr>
        <p:spPr>
          <a:xfrm>
            <a:off x="7516367" y="3776472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  <a:endParaRPr/>
          </a:p>
        </p:txBody>
      </p:sp>
      <p:sp>
        <p:nvSpPr>
          <p:cNvPr id="928" name="Google Shape;928;p55"/>
          <p:cNvSpPr txBox="1"/>
          <p:nvPr/>
        </p:nvSpPr>
        <p:spPr>
          <a:xfrm>
            <a:off x="7946136" y="3776472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  <a:endParaRPr/>
          </a:p>
        </p:txBody>
      </p:sp>
      <p:sp>
        <p:nvSpPr>
          <p:cNvPr id="929" name="Google Shape;929;p55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55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931" name="Google Shape;931;p55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Third priority: renter/value profile is strong and competitors are local. Validate exact west-side trade nodes, parking, visibility, and lease options.</a:t>
            </a:r>
            <a:endParaRPr/>
          </a:p>
        </p:txBody>
      </p:sp>
      <p:sp>
        <p:nvSpPr>
          <p:cNvPr id="932" name="Google Shape;932;p55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933" name="Google Shape;933;p55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934" name="Google Shape;934;p55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55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5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endParaRPr/>
          </a:p>
        </p:txBody>
      </p:sp>
      <p:sp>
        <p:nvSpPr>
          <p:cNvPr id="941" name="Google Shape;941;p5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56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6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SHORTLIST COMPARISON</a:t>
            </a:r>
            <a:endParaRPr/>
          </a:p>
        </p:txBody>
      </p:sp>
      <p:sp>
        <p:nvSpPr>
          <p:cNvPr id="944" name="Google Shape;944;p56"/>
          <p:cNvSpPr txBox="1"/>
          <p:nvPr/>
        </p:nvSpPr>
        <p:spPr>
          <a:xfrm>
            <a:off x="347472" y="694944"/>
            <a:ext cx="5943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The top 3 zones win for different reasons</a:t>
            </a:r>
            <a:endParaRPr/>
          </a:p>
        </p:txBody>
      </p:sp>
      <p:sp>
        <p:nvSpPr>
          <p:cNvPr id="945" name="Google Shape;945;p56"/>
          <p:cNvSpPr txBox="1"/>
          <p:nvPr/>
        </p:nvSpPr>
        <p:spPr>
          <a:xfrm>
            <a:off x="365760" y="1024128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Use this slide to explain how the dashboard moved from ranking to business interpretation.</a:t>
            </a:r>
            <a:endParaRPr/>
          </a:p>
        </p:txBody>
      </p:sp>
      <p:sp>
        <p:nvSpPr>
          <p:cNvPr id="946" name="Google Shape;946;p56"/>
          <p:cNvSpPr/>
          <p:nvPr/>
        </p:nvSpPr>
        <p:spPr>
          <a:xfrm>
            <a:off x="347472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56"/>
          <p:cNvSpPr/>
          <p:nvPr/>
        </p:nvSpPr>
        <p:spPr>
          <a:xfrm>
            <a:off x="457200" y="1463040"/>
            <a:ext cx="310896" cy="310896"/>
          </a:xfrm>
          <a:prstGeom prst="ellipse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56"/>
          <p:cNvSpPr txBox="1"/>
          <p:nvPr/>
        </p:nvSpPr>
        <p:spPr>
          <a:xfrm>
            <a:off x="457200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9" name="Google Shape;949;p56"/>
          <p:cNvSpPr txBox="1"/>
          <p:nvPr/>
        </p:nvSpPr>
        <p:spPr>
          <a:xfrm>
            <a:off x="850392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950" name="Google Shape;950;p56"/>
          <p:cNvSpPr txBox="1"/>
          <p:nvPr/>
        </p:nvSpPr>
        <p:spPr>
          <a:xfrm>
            <a:off x="850392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London</a:t>
            </a:r>
            <a:endParaRPr/>
          </a:p>
        </p:txBody>
      </p:sp>
      <p:sp>
        <p:nvSpPr>
          <p:cNvPr id="951" name="Google Shape;951;p56"/>
          <p:cNvSpPr txBox="1"/>
          <p:nvPr/>
        </p:nvSpPr>
        <p:spPr>
          <a:xfrm>
            <a:off x="457200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Best first search area</a:t>
            </a:r>
            <a:endParaRPr/>
          </a:p>
        </p:txBody>
      </p:sp>
      <p:sp>
        <p:nvSpPr>
          <p:cNvPr id="952" name="Google Shape;952;p56"/>
          <p:cNvSpPr txBox="1"/>
          <p:nvPr/>
        </p:nvSpPr>
        <p:spPr>
          <a:xfrm>
            <a:off x="457200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53" name="Google Shape;953;p56"/>
          <p:cNvSpPr txBox="1"/>
          <p:nvPr/>
        </p:nvSpPr>
        <p:spPr>
          <a:xfrm>
            <a:off x="457200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954" name="Google Shape;954;p56"/>
          <p:cNvSpPr txBox="1"/>
          <p:nvPr/>
        </p:nvSpPr>
        <p:spPr>
          <a:xfrm>
            <a:off x="1225295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55" name="Google Shape;955;p56"/>
          <p:cNvSpPr txBox="1"/>
          <p:nvPr/>
        </p:nvSpPr>
        <p:spPr>
          <a:xfrm>
            <a:off x="1225295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80.5</a:t>
            </a:r>
            <a:endParaRPr/>
          </a:p>
        </p:txBody>
      </p:sp>
      <p:sp>
        <p:nvSpPr>
          <p:cNvPr id="956" name="Google Shape;956;p56"/>
          <p:cNvSpPr txBox="1"/>
          <p:nvPr/>
        </p:nvSpPr>
        <p:spPr>
          <a:xfrm>
            <a:off x="1993391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57" name="Google Shape;957;p56"/>
          <p:cNvSpPr txBox="1"/>
          <p:nvPr/>
        </p:nvSpPr>
        <p:spPr>
          <a:xfrm>
            <a:off x="1993391" y="2176272"/>
            <a:ext cx="7407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0.45</a:t>
            </a:r>
            <a:endParaRPr/>
          </a:p>
        </p:txBody>
      </p:sp>
      <p:sp>
        <p:nvSpPr>
          <p:cNvPr id="958" name="Google Shape;958;p56"/>
          <p:cNvSpPr/>
          <p:nvPr/>
        </p:nvSpPr>
        <p:spPr>
          <a:xfrm>
            <a:off x="3200400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56"/>
          <p:cNvSpPr/>
          <p:nvPr/>
        </p:nvSpPr>
        <p:spPr>
          <a:xfrm>
            <a:off x="3310128" y="1463040"/>
            <a:ext cx="310896" cy="310896"/>
          </a:xfrm>
          <a:prstGeom prst="ellipse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56"/>
          <p:cNvSpPr txBox="1"/>
          <p:nvPr/>
        </p:nvSpPr>
        <p:spPr>
          <a:xfrm>
            <a:off x="3310128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1" name="Google Shape;961;p56"/>
          <p:cNvSpPr txBox="1"/>
          <p:nvPr/>
        </p:nvSpPr>
        <p:spPr>
          <a:xfrm>
            <a:off x="3703320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Northwest Kitchener</a:t>
            </a:r>
            <a:endParaRPr/>
          </a:p>
        </p:txBody>
      </p:sp>
      <p:sp>
        <p:nvSpPr>
          <p:cNvPr id="962" name="Google Shape;962;p56"/>
          <p:cNvSpPr txBox="1"/>
          <p:nvPr/>
        </p:nvSpPr>
        <p:spPr>
          <a:xfrm>
            <a:off x="3703320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Kitchener</a:t>
            </a:r>
            <a:endParaRPr/>
          </a:p>
        </p:txBody>
      </p:sp>
      <p:sp>
        <p:nvSpPr>
          <p:cNvPr id="963" name="Google Shape;963;p56"/>
          <p:cNvSpPr txBox="1"/>
          <p:nvPr/>
        </p:nvSpPr>
        <p:spPr>
          <a:xfrm>
            <a:off x="3255303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Highest demand, careful site precision</a:t>
            </a:r>
            <a:endParaRPr/>
          </a:p>
        </p:txBody>
      </p:sp>
      <p:sp>
        <p:nvSpPr>
          <p:cNvPr id="964" name="Google Shape;964;p56"/>
          <p:cNvSpPr txBox="1"/>
          <p:nvPr/>
        </p:nvSpPr>
        <p:spPr>
          <a:xfrm>
            <a:off x="3310128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65" name="Google Shape;965;p56"/>
          <p:cNvSpPr txBox="1"/>
          <p:nvPr/>
        </p:nvSpPr>
        <p:spPr>
          <a:xfrm>
            <a:off x="3310128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966" name="Google Shape;966;p56"/>
          <p:cNvSpPr txBox="1"/>
          <p:nvPr/>
        </p:nvSpPr>
        <p:spPr>
          <a:xfrm>
            <a:off x="4078224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67" name="Google Shape;967;p56"/>
          <p:cNvSpPr txBox="1"/>
          <p:nvPr/>
        </p:nvSpPr>
        <p:spPr>
          <a:xfrm>
            <a:off x="4078224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84.8</a:t>
            </a:r>
            <a:endParaRPr/>
          </a:p>
        </p:txBody>
      </p:sp>
      <p:sp>
        <p:nvSpPr>
          <p:cNvPr id="968" name="Google Shape;968;p56"/>
          <p:cNvSpPr txBox="1"/>
          <p:nvPr/>
        </p:nvSpPr>
        <p:spPr>
          <a:xfrm>
            <a:off x="4846320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69" name="Google Shape;969;p56"/>
          <p:cNvSpPr txBox="1"/>
          <p:nvPr/>
        </p:nvSpPr>
        <p:spPr>
          <a:xfrm>
            <a:off x="4846320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1.05</a:t>
            </a:r>
            <a:endParaRPr/>
          </a:p>
        </p:txBody>
      </p:sp>
      <p:sp>
        <p:nvSpPr>
          <p:cNvPr id="970" name="Google Shape;970;p56"/>
          <p:cNvSpPr/>
          <p:nvPr/>
        </p:nvSpPr>
        <p:spPr>
          <a:xfrm>
            <a:off x="6053328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6"/>
          <p:cNvSpPr/>
          <p:nvPr/>
        </p:nvSpPr>
        <p:spPr>
          <a:xfrm>
            <a:off x="6163056" y="1463040"/>
            <a:ext cx="310896" cy="310896"/>
          </a:xfrm>
          <a:prstGeom prst="ellipse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6"/>
          <p:cNvSpPr txBox="1"/>
          <p:nvPr/>
        </p:nvSpPr>
        <p:spPr>
          <a:xfrm>
            <a:off x="6163056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3" name="Google Shape;973;p56"/>
          <p:cNvSpPr txBox="1"/>
          <p:nvPr/>
        </p:nvSpPr>
        <p:spPr>
          <a:xfrm>
            <a:off x="6556248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Northwest Windsor</a:t>
            </a:r>
            <a:endParaRPr/>
          </a:p>
        </p:txBody>
      </p:sp>
      <p:sp>
        <p:nvSpPr>
          <p:cNvPr id="974" name="Google Shape;974;p56"/>
          <p:cNvSpPr txBox="1"/>
          <p:nvPr/>
        </p:nvSpPr>
        <p:spPr>
          <a:xfrm>
            <a:off x="6556248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Windsor</a:t>
            </a:r>
            <a:endParaRPr/>
          </a:p>
        </p:txBody>
      </p:sp>
      <p:sp>
        <p:nvSpPr>
          <p:cNvPr id="975" name="Google Shape;975;p56"/>
          <p:cNvSpPr txBox="1"/>
          <p:nvPr/>
        </p:nvSpPr>
        <p:spPr>
          <a:xfrm>
            <a:off x="6162981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Value-market gap to verify</a:t>
            </a:r>
            <a:endParaRPr/>
          </a:p>
        </p:txBody>
      </p:sp>
      <p:sp>
        <p:nvSpPr>
          <p:cNvPr id="976" name="Google Shape;976;p56"/>
          <p:cNvSpPr txBox="1"/>
          <p:nvPr/>
        </p:nvSpPr>
        <p:spPr>
          <a:xfrm>
            <a:off x="6163056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77" name="Google Shape;977;p56"/>
          <p:cNvSpPr txBox="1"/>
          <p:nvPr/>
        </p:nvSpPr>
        <p:spPr>
          <a:xfrm>
            <a:off x="6163056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978" name="Google Shape;978;p56"/>
          <p:cNvSpPr txBox="1"/>
          <p:nvPr/>
        </p:nvSpPr>
        <p:spPr>
          <a:xfrm>
            <a:off x="6931152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79" name="Google Shape;979;p56"/>
          <p:cNvSpPr txBox="1"/>
          <p:nvPr/>
        </p:nvSpPr>
        <p:spPr>
          <a:xfrm>
            <a:off x="6931152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76.8</a:t>
            </a:r>
            <a:endParaRPr/>
          </a:p>
        </p:txBody>
      </p:sp>
      <p:sp>
        <p:nvSpPr>
          <p:cNvPr id="980" name="Google Shape;980;p56"/>
          <p:cNvSpPr txBox="1"/>
          <p:nvPr/>
        </p:nvSpPr>
        <p:spPr>
          <a:xfrm>
            <a:off x="7699248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81" name="Google Shape;981;p56"/>
          <p:cNvSpPr txBox="1"/>
          <p:nvPr/>
        </p:nvSpPr>
        <p:spPr>
          <a:xfrm>
            <a:off x="7699248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0.67</a:t>
            </a:r>
            <a:endParaRPr/>
          </a:p>
        </p:txBody>
      </p:sp>
      <p:sp>
        <p:nvSpPr>
          <p:cNvPr id="982" name="Google Shape;982;p56"/>
          <p:cNvSpPr/>
          <p:nvPr/>
        </p:nvSpPr>
        <p:spPr>
          <a:xfrm>
            <a:off x="347472" y="2816352"/>
            <a:ext cx="4069080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56"/>
          <p:cNvSpPr txBox="1"/>
          <p:nvPr/>
        </p:nvSpPr>
        <p:spPr>
          <a:xfrm>
            <a:off x="475488" y="292608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Opportunity and demand score</a:t>
            </a:r>
            <a:endParaRPr/>
          </a:p>
        </p:txBody>
      </p:sp>
      <p:sp>
        <p:nvSpPr>
          <p:cNvPr id="984" name="Google Shape;984;p56"/>
          <p:cNvSpPr txBox="1"/>
          <p:nvPr/>
        </p:nvSpPr>
        <p:spPr>
          <a:xfrm>
            <a:off x="566928" y="3255264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985" name="Google Shape;985;p56"/>
          <p:cNvSpPr/>
          <p:nvPr/>
        </p:nvSpPr>
        <p:spPr>
          <a:xfrm>
            <a:off x="1892807" y="3273552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56"/>
          <p:cNvSpPr/>
          <p:nvPr/>
        </p:nvSpPr>
        <p:spPr>
          <a:xfrm>
            <a:off x="1892807" y="3273552"/>
            <a:ext cx="1540672" cy="109728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56"/>
          <p:cNvSpPr txBox="1"/>
          <p:nvPr/>
        </p:nvSpPr>
        <p:spPr>
          <a:xfrm>
            <a:off x="3785615" y="3246120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988" name="Google Shape;988;p56"/>
          <p:cNvSpPr txBox="1"/>
          <p:nvPr/>
        </p:nvSpPr>
        <p:spPr>
          <a:xfrm>
            <a:off x="566928" y="3511296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Kitchener</a:t>
            </a:r>
            <a:endParaRPr/>
          </a:p>
        </p:txBody>
      </p:sp>
      <p:sp>
        <p:nvSpPr>
          <p:cNvPr id="989" name="Google Shape;989;p56"/>
          <p:cNvSpPr/>
          <p:nvPr/>
        </p:nvSpPr>
        <p:spPr>
          <a:xfrm>
            <a:off x="1892807" y="3529584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56"/>
          <p:cNvSpPr/>
          <p:nvPr/>
        </p:nvSpPr>
        <p:spPr>
          <a:xfrm>
            <a:off x="1892807" y="3529584"/>
            <a:ext cx="1507672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56"/>
          <p:cNvSpPr txBox="1"/>
          <p:nvPr/>
        </p:nvSpPr>
        <p:spPr>
          <a:xfrm>
            <a:off x="3785615" y="3502152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992" name="Google Shape;992;p56"/>
          <p:cNvSpPr txBox="1"/>
          <p:nvPr/>
        </p:nvSpPr>
        <p:spPr>
          <a:xfrm>
            <a:off x="566928" y="3767328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Windsor</a:t>
            </a:r>
            <a:endParaRPr/>
          </a:p>
        </p:txBody>
      </p:sp>
      <p:sp>
        <p:nvSpPr>
          <p:cNvPr id="993" name="Google Shape;993;p56"/>
          <p:cNvSpPr/>
          <p:nvPr/>
        </p:nvSpPr>
        <p:spPr>
          <a:xfrm>
            <a:off x="1892807" y="3785615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6"/>
          <p:cNvSpPr/>
          <p:nvPr/>
        </p:nvSpPr>
        <p:spPr>
          <a:xfrm>
            <a:off x="1892807" y="3785615"/>
            <a:ext cx="1447860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6"/>
          <p:cNvSpPr txBox="1"/>
          <p:nvPr/>
        </p:nvSpPr>
        <p:spPr>
          <a:xfrm>
            <a:off x="3785615" y="3758184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996" name="Google Shape;996;p56"/>
          <p:cNvSpPr txBox="1"/>
          <p:nvPr/>
        </p:nvSpPr>
        <p:spPr>
          <a:xfrm>
            <a:off x="566928" y="4078224"/>
            <a:ext cx="320040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 score combines demand and supply gap.</a:t>
            </a:r>
            <a:endParaRPr/>
          </a:p>
        </p:txBody>
      </p:sp>
      <p:sp>
        <p:nvSpPr>
          <p:cNvPr id="997" name="Google Shape;997;p56"/>
          <p:cNvSpPr/>
          <p:nvPr/>
        </p:nvSpPr>
        <p:spPr>
          <a:xfrm>
            <a:off x="4617720" y="2816352"/>
            <a:ext cx="1874519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56"/>
          <p:cNvSpPr txBox="1"/>
          <p:nvPr/>
        </p:nvSpPr>
        <p:spPr>
          <a:xfrm>
            <a:off x="4754880" y="292608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Supply pressure</a:t>
            </a:r>
            <a:endParaRPr/>
          </a:p>
        </p:txBody>
      </p:sp>
      <p:sp>
        <p:nvSpPr>
          <p:cNvPr id="999" name="Google Shape;999;p56"/>
          <p:cNvSpPr txBox="1"/>
          <p:nvPr/>
        </p:nvSpPr>
        <p:spPr>
          <a:xfrm>
            <a:off x="4773168" y="3236976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1000" name="Google Shape;1000;p56"/>
          <p:cNvSpPr txBox="1"/>
          <p:nvPr/>
        </p:nvSpPr>
        <p:spPr>
          <a:xfrm>
            <a:off x="5650992" y="3236976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 gyms</a:t>
            </a:r>
            <a:endParaRPr/>
          </a:p>
        </p:txBody>
      </p:sp>
      <p:sp>
        <p:nvSpPr>
          <p:cNvPr id="1001" name="Google Shape;1001;p56"/>
          <p:cNvSpPr txBox="1"/>
          <p:nvPr/>
        </p:nvSpPr>
        <p:spPr>
          <a:xfrm>
            <a:off x="6035040" y="3236976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0.45/10k</a:t>
            </a:r>
            <a:endParaRPr/>
          </a:p>
        </p:txBody>
      </p:sp>
      <p:sp>
        <p:nvSpPr>
          <p:cNvPr id="1002" name="Google Shape;1002;p56"/>
          <p:cNvSpPr txBox="1"/>
          <p:nvPr/>
        </p:nvSpPr>
        <p:spPr>
          <a:xfrm>
            <a:off x="4773168" y="3511296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Kitchener</a:t>
            </a:r>
            <a:endParaRPr/>
          </a:p>
        </p:txBody>
      </p:sp>
      <p:sp>
        <p:nvSpPr>
          <p:cNvPr id="1003" name="Google Shape;1003;p56"/>
          <p:cNvSpPr txBox="1"/>
          <p:nvPr/>
        </p:nvSpPr>
        <p:spPr>
          <a:xfrm>
            <a:off x="5650992" y="3511296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 gyms</a:t>
            </a:r>
            <a:endParaRPr/>
          </a:p>
        </p:txBody>
      </p:sp>
      <p:sp>
        <p:nvSpPr>
          <p:cNvPr id="1004" name="Google Shape;1004;p56"/>
          <p:cNvSpPr txBox="1"/>
          <p:nvPr/>
        </p:nvSpPr>
        <p:spPr>
          <a:xfrm>
            <a:off x="6035040" y="3511296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1.05/10k</a:t>
            </a:r>
            <a:endParaRPr/>
          </a:p>
        </p:txBody>
      </p:sp>
      <p:sp>
        <p:nvSpPr>
          <p:cNvPr id="1005" name="Google Shape;1005;p56"/>
          <p:cNvSpPr txBox="1"/>
          <p:nvPr/>
        </p:nvSpPr>
        <p:spPr>
          <a:xfrm>
            <a:off x="4773168" y="3785615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Windsor</a:t>
            </a:r>
            <a:endParaRPr/>
          </a:p>
        </p:txBody>
      </p:sp>
      <p:sp>
        <p:nvSpPr>
          <p:cNvPr id="1006" name="Google Shape;1006;p56"/>
          <p:cNvSpPr txBox="1"/>
          <p:nvPr/>
        </p:nvSpPr>
        <p:spPr>
          <a:xfrm>
            <a:off x="5650992" y="3785615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 gyms</a:t>
            </a:r>
            <a:endParaRPr/>
          </a:p>
        </p:txBody>
      </p:sp>
      <p:sp>
        <p:nvSpPr>
          <p:cNvPr id="1007" name="Google Shape;1007;p56"/>
          <p:cNvSpPr txBox="1"/>
          <p:nvPr/>
        </p:nvSpPr>
        <p:spPr>
          <a:xfrm>
            <a:off x="6035040" y="3785615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0.67/10k</a:t>
            </a:r>
            <a:endParaRPr/>
          </a:p>
        </p:txBody>
      </p:sp>
      <p:sp>
        <p:nvSpPr>
          <p:cNvPr id="1008" name="Google Shape;1008;p56"/>
          <p:cNvSpPr txBox="1"/>
          <p:nvPr/>
        </p:nvSpPr>
        <p:spPr>
          <a:xfrm>
            <a:off x="4773168" y="4078224"/>
            <a:ext cx="14813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Lower gyms/10k makes the gap easier to defend.</a:t>
            </a:r>
            <a:endParaRPr/>
          </a:p>
        </p:txBody>
      </p:sp>
      <p:sp>
        <p:nvSpPr>
          <p:cNvPr id="1009" name="Google Shape;1009;p56"/>
          <p:cNvSpPr/>
          <p:nvPr/>
        </p:nvSpPr>
        <p:spPr>
          <a:xfrm>
            <a:off x="6693408" y="2816352"/>
            <a:ext cx="2057400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56"/>
          <p:cNvSpPr txBox="1"/>
          <p:nvPr/>
        </p:nvSpPr>
        <p:spPr>
          <a:xfrm>
            <a:off x="6830568" y="2926080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Final read</a:t>
            </a:r>
            <a:endParaRPr/>
          </a:p>
        </p:txBody>
      </p:sp>
      <p:sp>
        <p:nvSpPr>
          <p:cNvPr id="1011" name="Google Shape;1011;p56"/>
          <p:cNvSpPr txBox="1"/>
          <p:nvPr/>
        </p:nvSpPr>
        <p:spPr>
          <a:xfrm>
            <a:off x="6830568" y="324612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 is the cleanest first pick. Northwest Kitchener has the strongest demand, but needs precise site selection. Northwest Windsor is the value-market bet with local competitors and no direct budget chain.</a:t>
            </a:r>
            <a:endParaRPr/>
          </a:p>
        </p:txBody>
      </p:sp>
      <p:sp>
        <p:nvSpPr>
          <p:cNvPr id="1012" name="Google Shape;1012;p56"/>
          <p:cNvSpPr txBox="1"/>
          <p:nvPr/>
        </p:nvSpPr>
        <p:spPr>
          <a:xfrm>
            <a:off x="6830568" y="4050791"/>
            <a:ext cx="162763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Recommendation: take all three to property-level validation.</a:t>
            </a:r>
            <a:endParaRPr/>
          </a:p>
        </p:txBody>
      </p:sp>
      <p:sp>
        <p:nvSpPr>
          <p:cNvPr id="1013" name="Google Shape;1013;p56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1014" name="Google Shape;1014;p56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28016"/>
            <a:ext cx="3474720" cy="1554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50" b="1">
                <a:solidFill>
                  <a:srgbClr val="B9D1DA"/>
                </a:solidFill>
                <a:latin typeface="Aptos"/>
              </a:defRPr>
            </a:pPr>
            <a:r>
              <a:rPr/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13232"/>
            <a:ext cx="80467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081426"/>
                </a:solidFill>
                <a:latin typeface="Aptos Display"/>
              </a:defRPr>
            </a:pPr>
            <a:r>
              <a:rPr/>
              <a:t>The tool screens zones; field validation makes the final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60704"/>
            <a:ext cx="800100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19" b="0">
                <a:solidFill>
                  <a:srgbClr val="5D6F87"/>
                </a:solidFill>
                <a:latin typeface="Aptos"/>
              </a:defRPr>
            </a:pPr>
            <a:r>
              <a:rPr/>
              <a:t>These limitations make the recommendation more defensible and show where the next version should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570" b="0">
                <a:solidFill>
                  <a:srgbClr val="5D6F87"/>
                </a:solidFill>
                <a:latin typeface="Aptos"/>
              </a:defRPr>
            </a:pPr>
            <a:r>
              <a:rPr/>
              <a:t>Gym Location Analytics and Expansion Recommendation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570" b="0">
                <a:solidFill>
                  <a:srgbClr val="5D6F87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rPr/>
              <a:t>Geographic limitations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" y="1915668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Market zones are analytical, not official boundaries.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171700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Final trade areas should use drive-time or walk-time catchments.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" y="2427732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Local roads, transit, and anchors need field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20340"/>
            <a:ext cx="2514600" cy="50292"/>
          </a:xfrm>
          <a:prstGeom prst="rect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0128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rPr/>
              <a:t>Competitor data limitations</a:t>
            </a:r>
          </a:p>
        </p:txBody>
      </p:sp>
      <p:sp>
        <p:nvSpPr>
          <p:cNvPr id="20" name="Oval 19"/>
          <p:cNvSpPr/>
          <p:nvPr/>
        </p:nvSpPr>
        <p:spPr>
          <a:xfrm>
            <a:off x="3474720" y="1915668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Some local gym records are open-source screening records.</a:t>
            </a:r>
          </a:p>
        </p:txBody>
      </p:sp>
      <p:sp>
        <p:nvSpPr>
          <p:cNvPr id="22" name="Oval 21"/>
          <p:cNvSpPr/>
          <p:nvPr/>
        </p:nvSpPr>
        <p:spPr>
          <a:xfrm>
            <a:off x="3474720" y="2171700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2736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Monthly fees and amenities need official/manual verification.</a:t>
            </a:r>
          </a:p>
        </p:txBody>
      </p:sp>
      <p:sp>
        <p:nvSpPr>
          <p:cNvPr id="24" name="Oval 23"/>
          <p:cNvSpPr/>
          <p:nvPr/>
        </p:nvSpPr>
        <p:spPr>
          <a:xfrm>
            <a:off x="3474720" y="2427732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Ratings and reviews are point-in-time Google/SerpApi checks.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2720340"/>
            <a:ext cx="2514600" cy="50292"/>
          </a:xfrm>
          <a:prstGeom prst="rect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rPr/>
              <a:t>Business decision limitations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291072" y="1915668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Model does not include lease costs, traffic counts, or parking.</a:t>
            </a:r>
          </a:p>
        </p:txBody>
      </p:sp>
      <p:sp>
        <p:nvSpPr>
          <p:cNvPr id="31" name="Oval 30"/>
          <p:cNvSpPr/>
          <p:nvPr/>
        </p:nvSpPr>
        <p:spPr>
          <a:xfrm>
            <a:off x="6291072" y="2171700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Visibility, zoning, and site condition must be checked.</a:t>
            </a:r>
          </a:p>
        </p:txBody>
      </p:sp>
      <p:sp>
        <p:nvSpPr>
          <p:cNvPr id="33" name="Oval 32"/>
          <p:cNvSpPr/>
          <p:nvPr/>
        </p:nvSpPr>
        <p:spPr>
          <a:xfrm>
            <a:off x="6291072" y="2427732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rPr/>
              <a:t>The output is a shortlist, not a final lease decision.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2720340"/>
            <a:ext cx="2514600" cy="50292"/>
          </a:xfrm>
          <a:prstGeom prst="rect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3200400"/>
            <a:ext cx="8138160" cy="713232"/>
          </a:xfrm>
          <a:prstGeom prst="roundRect">
            <a:avLst/>
          </a:prstGeom>
          <a:solidFill>
            <a:srgbClr val="EBF4F6"/>
          </a:solidFill>
          <a:ln w="10160">
            <a:solidFill>
              <a:srgbClr val="C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3419856"/>
            <a:ext cx="91440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680" b="1">
                <a:solidFill>
                  <a:srgbClr val="1C919C"/>
                </a:solidFill>
                <a:latin typeface="Aptos"/>
              </a:defRPr>
            </a:pPr>
            <a:r>
              <a:rPr/>
              <a:t>Future 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3337560"/>
            <a:ext cx="653796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19" b="0">
                <a:solidFill>
                  <a:srgbClr val="081426"/>
                </a:solidFill>
                <a:latin typeface="Aptos"/>
              </a:defRPr>
            </a:pPr>
            <a:r>
              <a:rPr/>
              <a:t>Add commercial real-estate data, drive-time catchments, traffic counts, parking availability, and a sensitivity test for demand/opportunity score weights.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28016"/>
            <a:ext cx="3474720" cy="1554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50" b="1">
                <a:solidFill>
                  <a:srgbClr val="B9D1DA"/>
                </a:solidFill>
                <a:latin typeface="Aptos"/>
              </a:defRPr>
            </a:pPr>
            <a:r>
              <a:rPr/>
              <a:t>REFERENCES AND AI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94944"/>
            <a:ext cx="8046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100" b="1">
                <a:solidFill>
                  <a:srgbClr val="081426"/>
                </a:solidFill>
                <a:latin typeface="Aptos Display"/>
              </a:defRPr>
            </a:pPr>
            <a:r>
              <a:rPr/>
              <a:t>Sources used to build and validate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80010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40" b="0">
                <a:solidFill>
                  <a:srgbClr val="5D6F87"/>
                </a:solidFill>
                <a:latin typeface="Aptos"/>
              </a:defRPr>
            </a:pPr>
            <a:r>
              <a:rPr/>
              <a:t>AI was used as a support tool, not as a factual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570" b="0">
                <a:solidFill>
                  <a:srgbClr val="5D6F87"/>
                </a:solidFill>
                <a:latin typeface="Aptos"/>
              </a:defRPr>
            </a:pPr>
            <a:r>
              <a:rPr/>
              <a:t>Gym Location Analytics and Expansion Recommendation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570" b="0">
                <a:solidFill>
                  <a:srgbClr val="5D6F87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53312"/>
            <a:ext cx="38862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472184"/>
            <a:ext cx="36301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rPr/>
              <a:t>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630168" cy="1399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30" b="0">
                <a:solidFill>
                  <a:srgbClr val="081426"/>
                </a:solidFill>
                <a:latin typeface="Aptos"/>
              </a:defRPr>
            </a:pPr>
            <a:r>
              <a:rPr/>
              <a:t>Statistics Canada. 2021 Census Profile and boundary files.</a:t>
            </a:r>
            <a:br/>
            <a:r>
              <a:rPr/>
              <a:t>SerpApi. Google Maps API documentation/results used for location, ratings, and review-count checks.</a:t>
            </a:r>
            <a:br/>
            <a:r>
              <a:rPr/>
              <a:t>OpenStreetMap/Nominatim. Geocoding and place-search records.</a:t>
            </a:r>
            <a:br/>
            <a:r>
              <a:rPr/>
              <a:t>Official gym websites/location pages for major-chain location, fee, and amenity checks.</a:t>
            </a:r>
            <a:br/>
            <a:r>
              <a:rPr/>
              <a:t>Project datasets B, C, D, and manual fee/amenity workbook.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68979"/>
            <a:ext cx="3886200" cy="50292"/>
          </a:xfrm>
          <a:prstGeom prst="rect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09160" y="1353312"/>
            <a:ext cx="393192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37176" y="1472184"/>
            <a:ext cx="3675887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rPr/>
              <a:t>AI-use acknowledgement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7176" y="1792224"/>
            <a:ext cx="3675887" cy="1399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30" b="0">
                <a:solidFill>
                  <a:srgbClr val="081426"/>
                </a:solidFill>
                <a:latin typeface="Aptos"/>
              </a:defRPr>
            </a:pPr>
            <a:r>
              <a:rPr/>
              <a:t>Generative AI assisted with project planning, dataset structure, dashboard/report wording, slide design, and presentation refinement.</a:t>
            </a:r>
            <a:br/>
            <a:br/>
            <a:r>
              <a:rPr/>
              <a:t>AI was not treated as an authoritative factual source. Dataset values and factual claims should be verified through the cited datasets and official/source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3268979"/>
            <a:ext cx="3931920" cy="50292"/>
          </a:xfrm>
          <a:prstGeom prst="rect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8138160" cy="566928"/>
          </a:xfrm>
          <a:prstGeom prst="roundRect">
            <a:avLst/>
          </a:prstGeom>
          <a:solidFill>
            <a:srgbClr val="EBF4F6"/>
          </a:solidFill>
          <a:ln w="10160">
            <a:solidFill>
              <a:srgbClr val="C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04487"/>
            <a:ext cx="1005840" cy="1280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680" b="1">
                <a:solidFill>
                  <a:srgbClr val="1C919C"/>
                </a:solidFill>
                <a:latin typeface="Aptos"/>
              </a:defRPr>
            </a:pPr>
            <a:r>
              <a:rPr/>
              <a:t>Submission note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831336"/>
            <a:ext cx="644652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00" b="1">
                <a:solidFill>
                  <a:srgbClr val="081426"/>
                </a:solidFill>
                <a:latin typeface="Aptos"/>
              </a:defRPr>
            </a:pPr>
            <a:r>
              <a:rPr/>
              <a:t>If asked during Q&amp;A, explain that demand and opportunity scores are preliminary screening indices designed to rank zones for deeper site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40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321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5DDE8"/>
                </a:solidFill>
                <a:latin typeface="Aptos Display"/>
              </a:rPr>
              <a:t>LIVE DASHBOARD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040D1F"/>
                </a:solidFill>
                <a:latin typeface="Aptos Display"/>
              </a:rPr>
              <a:t>Hosted dashboard for exploring Ontario gym market opportunities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024128"/>
            <a:ext cx="8284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F6980"/>
                </a:solidFill>
                <a:latin typeface="Aptos"/>
              </a:rPr>
              <a:t>Filter by municipality or zone, compare demand vs. supply, review competitors, and support the final short-list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8138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D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-live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472" y="1527048"/>
            <a:ext cx="4893056" cy="27523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4517136"/>
            <a:ext cx="8138160" cy="310896"/>
          </a:xfrm>
          <a:prstGeom prst="roundRect">
            <a:avLst/>
          </a:prstGeom>
          <a:solidFill>
            <a:srgbClr val="E8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94860"/>
            <a:ext cx="914400" cy="155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40D1F"/>
                </a:solidFill>
                <a:latin typeface="Aptos"/>
              </a:rPr>
              <a:t>Link: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4590288"/>
            <a:ext cx="7452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14717D"/>
                </a:solidFill>
                <a:latin typeface="Aptos"/>
                <a:hlinkClick r:id="rId3"/>
              </a:rPr>
              <a:t>https://ontario-gym-opportunity-dashboard.vercel.app/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01184"/>
            <a:ext cx="813816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5F6980"/>
                </a:solidFill>
                <a:latin typeface="Aptos"/>
              </a:rPr>
              <a:t>Academic screening dashboard | verify final real-estate and operating assumptions before business action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40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321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5DDE8"/>
                </a:solidFill>
                <a:latin typeface="Aptos Display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40D1F"/>
                </a:solidFill>
                <a:latin typeface="Aptos Display"/>
              </a:rPr>
              <a:t>Data dictionary: what each dataset contributes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033271"/>
            <a:ext cx="82844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F6980"/>
                </a:solidFill>
                <a:latin typeface="Aptos"/>
              </a:rPr>
              <a:t>The dashboard joins demographic demand signals with competitor supply, service mix, pricing, and verification fields.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8138160" cy="3182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D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1682496"/>
          <a:ext cx="8275319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3429000"/>
                <a:gridCol w="1828800"/>
              </a:tblGrid>
              <a:tr h="55595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Row level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Key variables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A: Market 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project-defined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Municipality, market zone, zone type, approximate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Makes large municipalities actionable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B: Demographics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zone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Population, density, income, age 18?34, renter share, student proxy, employment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Estimates local demand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C/D: Competitors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gym location / zone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Brand, address, gym type, budget/premium/boutique, rating/reviews,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Measures supply and competition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956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E: Amenities &amp; fees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gym brand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Monthly fee, personal training, classes, 24/7, tanning, hydro massage, sauna/steam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Identifies price and service gaps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754880"/>
            <a:ext cx="8138160" cy="274320"/>
          </a:xfrm>
          <a:prstGeom prst="roundRect">
            <a:avLst/>
          </a:prstGeom>
          <a:solidFill>
            <a:srgbClr val="E8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823460"/>
            <a:ext cx="77266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80">
                <a:solidFill>
                  <a:srgbClr val="040D1F"/>
                </a:solidFill>
                <a:latin typeface="Aptos"/>
              </a:rPr>
              <a:t>Note: Market zones are analytical groupings, not official municipal boundaries; competitor and fee fields should be re-verified before real investment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3113</Words>
  <Application>Microsoft Office PowerPoint</Application>
  <PresentationFormat>On-screen Show (16:9)</PresentationFormat>
  <Paragraphs>633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Play</vt:lpstr>
      <vt:lpstr>Simple Light</vt:lpstr>
      <vt:lpstr>Simple Light</vt:lpstr>
      <vt:lpstr>ChatGPT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Lenovo</dc:creator>
  <cp:lastModifiedBy>Lenovo</cp:lastModifiedBy>
  <cp:revision>1</cp:revision>
  <dcterms:modified xsi:type="dcterms:W3CDTF">2026-08-03T21:50:48Z</dcterms:modified>
</cp:coreProperties>
</file>